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8C045FE-FB0A-4851-A6C7-78522CB012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10287000"/>
          </a:xfrm>
          <a:prstGeom prst="roundRect">
            <a:avLst>
              <a:gd name="adj" fmla="val 1311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199D9A35-BF03-4D97-9F0C-5946A529CE09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4486986" cy="1485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lang="en-GB" sz="4800" b="1" dirty="0">
                <a:solidFill>
                  <a:srgbClr val="FFFFFF"/>
                </a:solidFill>
              </a:rPr>
              <a:t>Data</a:t>
            </a:r>
            <a:r>
              <a:rPr sz="4800" b="1" dirty="0">
                <a:solidFill>
                  <a:srgbClr val="FFFFFF"/>
                </a:solidFill>
              </a:rPr>
              <a:t> </a:t>
            </a:r>
            <a:r>
              <a:rPr lang="en-GB" sz="4800" b="1" dirty="0">
                <a:solidFill>
                  <a:srgbClr val="FFFFFF"/>
                </a:solidFill>
              </a:rPr>
              <a:t>Loading</a:t>
            </a:r>
            <a:r>
              <a:rPr sz="4800" b="1" dirty="0">
                <a:solidFill>
                  <a:srgbClr val="FFFFFF"/>
                </a:solidFill>
              </a:rPr>
              <a:t> </a:t>
            </a:r>
            <a:r>
              <a:rPr lang="en-GB" sz="4800" b="1" dirty="0">
                <a:solidFill>
                  <a:srgbClr val="FFFFFF"/>
                </a:solidFill>
              </a:rPr>
              <a:t>Architecture</a:t>
            </a: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97E0727E-274E-4D3B-81BA-F5839454265C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4248150" cy="476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DCE7EF"/>
                </a:solidFill>
              </a:defRPr>
            </a:pPr>
            <a:r>
              <a:rPr sz="1875" dirty="0">
                <a:solidFill>
                  <a:srgbClr val="DCE7EF"/>
                </a:solidFill>
              </a:rPr>
              <a:t>SAP HANA ODBC connection </a:t>
            </a:r>
            <a:r>
              <a:rPr lang="en-GB" sz="1875" dirty="0">
                <a:solidFill>
                  <a:srgbClr val="DCE7EF"/>
                </a:solidFill>
              </a:rPr>
              <a:t>S</a:t>
            </a:r>
            <a:r>
              <a:rPr sz="1875" dirty="0" err="1">
                <a:solidFill>
                  <a:srgbClr val="DCE7EF"/>
                </a:solidFill>
              </a:rPr>
              <a:t>ecurit</a:t>
            </a:r>
            <a:r>
              <a:rPr lang="en-GB" sz="1875" dirty="0">
                <a:solidFill>
                  <a:srgbClr val="DCE7EF"/>
                </a:solidFill>
              </a:rPr>
              <a:t>y</a:t>
            </a:r>
            <a:r>
              <a:rPr sz="1875" dirty="0">
                <a:solidFill>
                  <a:srgbClr val="DCE7EF"/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3ABB-096C-49D1-84D1-A18BAF4E2686}"/>
              </a:ext>
            </a:extLst>
          </p:cNvPr>
          <p:cNvSpPr>
            <a:spLocks noGrp="1"/>
          </p:cNvSpPr>
          <p:nvPr/>
        </p:nvSpPr>
        <p:spPr>
          <a:xfrm flipV="1">
            <a:off x="781049" y="3314700"/>
            <a:ext cx="3872837" cy="76200"/>
          </a:xfrm>
          <a:prstGeom prst="rect">
            <a:avLst/>
          </a:prstGeom>
          <a:solidFill>
            <a:srgbClr val="79B943"/>
          </a:solidFill>
          <a:ln w="0">
            <a:solidFill>
              <a:srgbClr val="79B9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8ED51FA0-95AD-408F-8554-C890177CFF21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4248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B5C6D4"/>
                </a:solidFill>
              </a:defRPr>
            </a:pPr>
            <a:r>
              <a:rPr sz="1200" dirty="0">
                <a:solidFill>
                  <a:srgbClr val="B5C6D4"/>
                </a:solidFill>
              </a:rPr>
              <a:t>Prepared </a:t>
            </a:r>
            <a:r>
              <a:rPr lang="en-GB" sz="1200" dirty="0">
                <a:solidFill>
                  <a:srgbClr val="B5C6D4"/>
                </a:solidFill>
              </a:rPr>
              <a:t>for Siemens</a:t>
            </a:r>
            <a:endParaRPr sz="1200" dirty="0">
              <a:solidFill>
                <a:srgbClr val="B5C6D4"/>
              </a:solidFill>
            </a:endParaRPr>
          </a:p>
          <a:p>
            <a:pPr>
              <a:defRPr sz="1200">
                <a:solidFill>
                  <a:srgbClr val="B5C6D4"/>
                </a:solidFill>
              </a:defRPr>
            </a:pPr>
            <a:r>
              <a:rPr sz="1200" dirty="0">
                <a:solidFill>
                  <a:srgbClr val="B5C6D4"/>
                </a:solidFill>
              </a:rPr>
              <a:t>27 April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9D76F6-596E-425A-8996-0AD162839F5A}"/>
              </a:ext>
            </a:extLst>
          </p:cNvPr>
          <p:cNvSpPr>
            <a:spLocks noGrp="1"/>
          </p:cNvSpPr>
          <p:nvPr/>
        </p:nvSpPr>
        <p:spPr>
          <a:xfrm>
            <a:off x="5810250" y="0"/>
            <a:ext cx="1247775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box-Legacy sources">
            <a:extLst>
              <a:ext uri="{FF2B5EF4-FFF2-40B4-BE49-F238E27FC236}">
                <a16:creationId xmlns:a16="http://schemas.microsoft.com/office/drawing/2014/main" id="{813E08FB-0DD9-4970-8F01-C0E857277CF2}"/>
              </a:ext>
            </a:extLst>
          </p:cNvPr>
          <p:cNvSpPr>
            <a:spLocks noGrp="1"/>
          </p:cNvSpPr>
          <p:nvPr/>
        </p:nvSpPr>
        <p:spPr>
          <a:xfrm>
            <a:off x="6496050" y="1066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box-title-Legacy sources">
            <a:extLst>
              <a:ext uri="{FF2B5EF4-FFF2-40B4-BE49-F238E27FC236}">
                <a16:creationId xmlns:a16="http://schemas.microsoft.com/office/drawing/2014/main" id="{8E14BE24-45E4-4EF3-91A7-576D7868E6F9}"/>
              </a:ext>
            </a:extLst>
          </p:cNvPr>
          <p:cNvSpPr>
            <a:spLocks noGrp="1"/>
          </p:cNvSpPr>
          <p:nvPr/>
        </p:nvSpPr>
        <p:spPr>
          <a:xfrm>
            <a:off x="6743700" y="1276350"/>
            <a:ext cx="2647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Legacy sources</a:t>
            </a:r>
          </a:p>
        </p:txBody>
      </p:sp>
      <p:sp>
        <p:nvSpPr>
          <p:cNvPr id="10" name="box-sub-Legacy sources">
            <a:extLst>
              <a:ext uri="{FF2B5EF4-FFF2-40B4-BE49-F238E27FC236}">
                <a16:creationId xmlns:a16="http://schemas.microsoft.com/office/drawing/2014/main" id="{B526AC13-BE91-46C4-8733-64FFC1EBC664}"/>
              </a:ext>
            </a:extLst>
          </p:cNvPr>
          <p:cNvSpPr>
            <a:spLocks noGrp="1"/>
          </p:cNvSpPr>
          <p:nvPr/>
        </p:nvSpPr>
        <p:spPr>
          <a:xfrm>
            <a:off x="6743700" y="1619250"/>
            <a:ext cx="2647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ERP, files, databases, extracts</a:t>
            </a:r>
          </a:p>
        </p:txBody>
      </p:sp>
      <p:sp>
        <p:nvSpPr>
          <p:cNvPr id="11" name="arrow">
            <a:extLst>
              <a:ext uri="{FF2B5EF4-FFF2-40B4-BE49-F238E27FC236}">
                <a16:creationId xmlns:a16="http://schemas.microsoft.com/office/drawing/2014/main" id="{23EECA70-04A3-461C-9AEE-D3EA8743C9B1}"/>
              </a:ext>
            </a:extLst>
          </p:cNvPr>
          <p:cNvSpPr>
            <a:spLocks noGrp="1"/>
          </p:cNvSpPr>
          <p:nvPr/>
        </p:nvSpPr>
        <p:spPr>
          <a:xfrm>
            <a:off x="9829800" y="10668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6B7886"/>
                </a:solidFill>
              </a:defRPr>
            </a:pPr>
            <a:r>
              <a:rPr sz="2625" b="1">
                <a:solidFill>
                  <a:srgbClr val="6B7886"/>
                </a:solidFill>
              </a:rPr>
              <a:t>-&gt;</a:t>
            </a:r>
          </a:p>
        </p:txBody>
      </p:sp>
      <p:sp>
        <p:nvSpPr>
          <p:cNvPr id="12" name="box-Syniti Migrate">
            <a:extLst>
              <a:ext uri="{FF2B5EF4-FFF2-40B4-BE49-F238E27FC236}">
                <a16:creationId xmlns:a16="http://schemas.microsoft.com/office/drawing/2014/main" id="{BB29E3A6-4ED4-4D06-B9D6-73905F17D831}"/>
              </a:ext>
            </a:extLst>
          </p:cNvPr>
          <p:cNvSpPr>
            <a:spLocks noGrp="1"/>
          </p:cNvSpPr>
          <p:nvPr/>
        </p:nvSpPr>
        <p:spPr>
          <a:xfrm>
            <a:off x="10477500" y="1066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box-title-Syniti Migrate">
            <a:extLst>
              <a:ext uri="{FF2B5EF4-FFF2-40B4-BE49-F238E27FC236}">
                <a16:creationId xmlns:a16="http://schemas.microsoft.com/office/drawing/2014/main" id="{648A21EB-9D6C-41EB-8884-78F5C4E58F2B}"/>
              </a:ext>
            </a:extLst>
          </p:cNvPr>
          <p:cNvSpPr>
            <a:spLocks noGrp="1"/>
          </p:cNvSpPr>
          <p:nvPr/>
        </p:nvSpPr>
        <p:spPr>
          <a:xfrm>
            <a:off x="10725150" y="1276350"/>
            <a:ext cx="2647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Syniti Migrate</a:t>
            </a:r>
          </a:p>
        </p:txBody>
      </p:sp>
      <p:sp>
        <p:nvSpPr>
          <p:cNvPr id="14" name="box-sub-Syniti Migrate">
            <a:extLst>
              <a:ext uri="{FF2B5EF4-FFF2-40B4-BE49-F238E27FC236}">
                <a16:creationId xmlns:a16="http://schemas.microsoft.com/office/drawing/2014/main" id="{31A52C94-9CFE-4346-99D8-3BF14F9D1EB3}"/>
              </a:ext>
            </a:extLst>
          </p:cNvPr>
          <p:cNvSpPr>
            <a:spLocks noGrp="1"/>
          </p:cNvSpPr>
          <p:nvPr/>
        </p:nvSpPr>
        <p:spPr>
          <a:xfrm>
            <a:off x="10725150" y="1619250"/>
            <a:ext cx="2647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Cleanse, map, validate, govern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FAE8CD4B-9082-4509-B7BF-1E86F58A1B60}"/>
              </a:ext>
            </a:extLst>
          </p:cNvPr>
          <p:cNvSpPr>
            <a:spLocks noGrp="1"/>
          </p:cNvSpPr>
          <p:nvPr/>
        </p:nvSpPr>
        <p:spPr>
          <a:xfrm>
            <a:off x="13811250" y="10668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6B7886"/>
                </a:solidFill>
              </a:defRPr>
            </a:pPr>
            <a:r>
              <a:rPr sz="2625" b="1">
                <a:solidFill>
                  <a:srgbClr val="6B7886"/>
                </a:solidFill>
              </a:rPr>
              <a:t>-&gt;</a:t>
            </a:r>
          </a:p>
        </p:txBody>
      </p:sp>
      <p:sp>
        <p:nvSpPr>
          <p:cNvPr id="16" name="box-Working DB">
            <a:extLst>
              <a:ext uri="{FF2B5EF4-FFF2-40B4-BE49-F238E27FC236}">
                <a16:creationId xmlns:a16="http://schemas.microsoft.com/office/drawing/2014/main" id="{1E5A9207-988E-448E-99E0-085C27ECB96C}"/>
              </a:ext>
            </a:extLst>
          </p:cNvPr>
          <p:cNvSpPr>
            <a:spLocks noGrp="1"/>
          </p:cNvSpPr>
          <p:nvPr/>
        </p:nvSpPr>
        <p:spPr>
          <a:xfrm>
            <a:off x="14458950" y="10668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box-title-Working DB">
            <a:extLst>
              <a:ext uri="{FF2B5EF4-FFF2-40B4-BE49-F238E27FC236}">
                <a16:creationId xmlns:a16="http://schemas.microsoft.com/office/drawing/2014/main" id="{AB26C66A-F26C-4449-8981-BBAA0949AAA6}"/>
              </a:ext>
            </a:extLst>
          </p:cNvPr>
          <p:cNvSpPr>
            <a:spLocks noGrp="1"/>
          </p:cNvSpPr>
          <p:nvPr/>
        </p:nvSpPr>
        <p:spPr>
          <a:xfrm>
            <a:off x="14706600" y="1276350"/>
            <a:ext cx="2647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Working DB</a:t>
            </a:r>
          </a:p>
        </p:txBody>
      </p:sp>
      <p:sp>
        <p:nvSpPr>
          <p:cNvPr id="18" name="box-sub-Working DB">
            <a:extLst>
              <a:ext uri="{FF2B5EF4-FFF2-40B4-BE49-F238E27FC236}">
                <a16:creationId xmlns:a16="http://schemas.microsoft.com/office/drawing/2014/main" id="{6CBCDAFC-EFF7-4FFA-8D74-8B851596BF4E}"/>
              </a:ext>
            </a:extLst>
          </p:cNvPr>
          <p:cNvSpPr>
            <a:spLocks noGrp="1"/>
          </p:cNvSpPr>
          <p:nvPr/>
        </p:nvSpPr>
        <p:spPr>
          <a:xfrm>
            <a:off x="14706600" y="1619250"/>
            <a:ext cx="2647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SQL Server, PostgreSQL, or HANA</a:t>
            </a:r>
          </a:p>
        </p:txBody>
      </p:sp>
      <p:sp>
        <p:nvSpPr>
          <p:cNvPr id="19" name="box-SAP Data Services / Replicate">
            <a:extLst>
              <a:ext uri="{FF2B5EF4-FFF2-40B4-BE49-F238E27FC236}">
                <a16:creationId xmlns:a16="http://schemas.microsoft.com/office/drawing/2014/main" id="{D8A0833C-B618-403C-A405-97E74E2642A7}"/>
              </a:ext>
            </a:extLst>
          </p:cNvPr>
          <p:cNvSpPr>
            <a:spLocks noGrp="1"/>
          </p:cNvSpPr>
          <p:nvPr/>
        </p:nvSpPr>
        <p:spPr>
          <a:xfrm>
            <a:off x="6496050" y="27622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F7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box-title-SAP Data Services / Replicate">
            <a:extLst>
              <a:ext uri="{FF2B5EF4-FFF2-40B4-BE49-F238E27FC236}">
                <a16:creationId xmlns:a16="http://schemas.microsoft.com/office/drawing/2014/main" id="{8C5878CF-ABE8-46C7-B8F6-29DB347286F0}"/>
              </a:ext>
            </a:extLst>
          </p:cNvPr>
          <p:cNvSpPr>
            <a:spLocks noGrp="1"/>
          </p:cNvSpPr>
          <p:nvPr/>
        </p:nvSpPr>
        <p:spPr>
          <a:xfrm>
            <a:off x="6743700" y="2971800"/>
            <a:ext cx="26479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Data Services / Replicate</a:t>
            </a:r>
          </a:p>
        </p:txBody>
      </p:sp>
      <p:sp>
        <p:nvSpPr>
          <p:cNvPr id="21" name="box-sub-SAP Data Services / Replicate">
            <a:extLst>
              <a:ext uri="{FF2B5EF4-FFF2-40B4-BE49-F238E27FC236}">
                <a16:creationId xmlns:a16="http://schemas.microsoft.com/office/drawing/2014/main" id="{12EC9324-07A5-4280-8018-828F630C59C8}"/>
              </a:ext>
            </a:extLst>
          </p:cNvPr>
          <p:cNvSpPr>
            <a:spLocks noGrp="1"/>
          </p:cNvSpPr>
          <p:nvPr/>
        </p:nvSpPr>
        <p:spPr>
          <a:xfrm>
            <a:off x="6743700" y="3562350"/>
            <a:ext cx="2647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Generated jobs and target load execution</a:t>
            </a:r>
          </a:p>
        </p:txBody>
      </p:sp>
      <p:sp>
        <p:nvSpPr>
          <p:cNvPr id="22" name="arrow">
            <a:extLst>
              <a:ext uri="{FF2B5EF4-FFF2-40B4-BE49-F238E27FC236}">
                <a16:creationId xmlns:a16="http://schemas.microsoft.com/office/drawing/2014/main" id="{A9750D1D-C7B2-47BE-BA77-A630DD76946F}"/>
              </a:ext>
            </a:extLst>
          </p:cNvPr>
          <p:cNvSpPr>
            <a:spLocks noGrp="1"/>
          </p:cNvSpPr>
          <p:nvPr/>
        </p:nvSpPr>
        <p:spPr>
          <a:xfrm>
            <a:off x="9829800" y="276225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B7C86"/>
                </a:solidFill>
              </a:defRPr>
            </a:pPr>
            <a:r>
              <a:rPr sz="2625" b="1">
                <a:solidFill>
                  <a:srgbClr val="0B7C86"/>
                </a:solidFill>
              </a:rPr>
              <a:t>-&gt;</a:t>
            </a:r>
          </a:p>
        </p:txBody>
      </p:sp>
      <p:sp>
        <p:nvSpPr>
          <p:cNvPr id="23" name="box-SAP HANA staging">
            <a:extLst>
              <a:ext uri="{FF2B5EF4-FFF2-40B4-BE49-F238E27FC236}">
                <a16:creationId xmlns:a16="http://schemas.microsoft.com/office/drawing/2014/main" id="{94A264FD-749F-4320-A7BA-95D9072827E1}"/>
              </a:ext>
            </a:extLst>
          </p:cNvPr>
          <p:cNvSpPr>
            <a:spLocks noGrp="1"/>
          </p:cNvSpPr>
          <p:nvPr/>
        </p:nvSpPr>
        <p:spPr>
          <a:xfrm>
            <a:off x="10477500" y="27622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7F2FE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box-title-SAP HANA staging">
            <a:extLst>
              <a:ext uri="{FF2B5EF4-FFF2-40B4-BE49-F238E27FC236}">
                <a16:creationId xmlns:a16="http://schemas.microsoft.com/office/drawing/2014/main" id="{3F8DA6D3-A8A7-4936-AB57-F304BB258BF7}"/>
              </a:ext>
            </a:extLst>
          </p:cNvPr>
          <p:cNvSpPr>
            <a:spLocks noGrp="1"/>
          </p:cNvSpPr>
          <p:nvPr/>
        </p:nvSpPr>
        <p:spPr>
          <a:xfrm>
            <a:off x="10725150" y="2971800"/>
            <a:ext cx="2647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HANA staging</a:t>
            </a:r>
          </a:p>
        </p:txBody>
      </p:sp>
      <p:sp>
        <p:nvSpPr>
          <p:cNvPr id="25" name="box-sub-SAP HANA staging">
            <a:extLst>
              <a:ext uri="{FF2B5EF4-FFF2-40B4-BE49-F238E27FC236}">
                <a16:creationId xmlns:a16="http://schemas.microsoft.com/office/drawing/2014/main" id="{FEB5C694-F241-4B2B-9AFF-A0BD32EB5A08}"/>
              </a:ext>
            </a:extLst>
          </p:cNvPr>
          <p:cNvSpPr>
            <a:spLocks noGrp="1"/>
          </p:cNvSpPr>
          <p:nvPr/>
        </p:nvSpPr>
        <p:spPr>
          <a:xfrm>
            <a:off x="10725150" y="3314700"/>
            <a:ext cx="2647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Migration Cockpit tables</a:t>
            </a:r>
          </a:p>
        </p:txBody>
      </p:sp>
      <p:sp>
        <p:nvSpPr>
          <p:cNvPr id="26" name="arrow">
            <a:extLst>
              <a:ext uri="{FF2B5EF4-FFF2-40B4-BE49-F238E27FC236}">
                <a16:creationId xmlns:a16="http://schemas.microsoft.com/office/drawing/2014/main" id="{D7770B3F-FEE3-43E8-B26A-D0B57324C90A}"/>
              </a:ext>
            </a:extLst>
          </p:cNvPr>
          <p:cNvSpPr>
            <a:spLocks noGrp="1"/>
          </p:cNvSpPr>
          <p:nvPr/>
        </p:nvSpPr>
        <p:spPr>
          <a:xfrm>
            <a:off x="13811250" y="276225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A6ED1"/>
                </a:solidFill>
              </a:defRPr>
            </a:pPr>
            <a:r>
              <a:rPr sz="2625" b="1">
                <a:solidFill>
                  <a:srgbClr val="0A6ED1"/>
                </a:solidFill>
              </a:rPr>
              <a:t>-&gt;</a:t>
            </a:r>
          </a:p>
        </p:txBody>
      </p:sp>
      <p:sp>
        <p:nvSpPr>
          <p:cNvPr id="27" name="box-S/4HANA">
            <a:extLst>
              <a:ext uri="{FF2B5EF4-FFF2-40B4-BE49-F238E27FC236}">
                <a16:creationId xmlns:a16="http://schemas.microsoft.com/office/drawing/2014/main" id="{D6850926-7C5D-4E8D-A5DE-7CAFA2F08E9F}"/>
              </a:ext>
            </a:extLst>
          </p:cNvPr>
          <p:cNvSpPr>
            <a:spLocks noGrp="1"/>
          </p:cNvSpPr>
          <p:nvPr/>
        </p:nvSpPr>
        <p:spPr>
          <a:xfrm>
            <a:off x="14458950" y="27622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7F2FE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box-title-S/4HANA">
            <a:extLst>
              <a:ext uri="{FF2B5EF4-FFF2-40B4-BE49-F238E27FC236}">
                <a16:creationId xmlns:a16="http://schemas.microsoft.com/office/drawing/2014/main" id="{BC2ADC91-AED2-413A-BEF4-55936336576F}"/>
              </a:ext>
            </a:extLst>
          </p:cNvPr>
          <p:cNvSpPr>
            <a:spLocks noGrp="1"/>
          </p:cNvSpPr>
          <p:nvPr/>
        </p:nvSpPr>
        <p:spPr>
          <a:xfrm>
            <a:off x="14706600" y="2971800"/>
            <a:ext cx="2647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S/4HANA</a:t>
            </a:r>
          </a:p>
        </p:txBody>
      </p:sp>
      <p:sp>
        <p:nvSpPr>
          <p:cNvPr id="29" name="box-sub-S/4HANA">
            <a:extLst>
              <a:ext uri="{FF2B5EF4-FFF2-40B4-BE49-F238E27FC236}">
                <a16:creationId xmlns:a16="http://schemas.microsoft.com/office/drawing/2014/main" id="{560583AD-5863-4715-8C61-3D0A89AA37C5}"/>
              </a:ext>
            </a:extLst>
          </p:cNvPr>
          <p:cNvSpPr>
            <a:spLocks noGrp="1"/>
          </p:cNvSpPr>
          <p:nvPr/>
        </p:nvSpPr>
        <p:spPr>
          <a:xfrm>
            <a:off x="14706600" y="3314700"/>
            <a:ext cx="2647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Business-object load through Migration Cockpit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92E487-5644-4CE2-88A8-FEC8C7BE923C}"/>
              </a:ext>
            </a:extLst>
          </p:cNvPr>
          <p:cNvSpPr>
            <a:spLocks noGrp="1"/>
          </p:cNvSpPr>
          <p:nvPr/>
        </p:nvSpPr>
        <p:spPr>
          <a:xfrm>
            <a:off x="6496050" y="4457700"/>
            <a:ext cx="11106150" cy="1295400"/>
          </a:xfrm>
          <a:prstGeom prst="roundRect">
            <a:avLst>
              <a:gd name="adj" fmla="val 5882"/>
            </a:avLst>
          </a:prstGeom>
          <a:solidFill>
            <a:srgbClr val="FFF8E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5BD514-CA71-4AA2-88FC-02F6282C93A5}"/>
              </a:ext>
            </a:extLst>
          </p:cNvPr>
          <p:cNvSpPr>
            <a:spLocks noGrp="1"/>
          </p:cNvSpPr>
          <p:nvPr/>
        </p:nvSpPr>
        <p:spPr>
          <a:xfrm>
            <a:off x="6762750" y="4648200"/>
            <a:ext cx="105727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The HANA connection is the controlled data bridge into staging, not a shortcut around SAP application validation.</a:t>
            </a:r>
          </a:p>
        </p:txBody>
      </p:sp>
    </p:spTree>
    <p:extLst>
      <p:ext uri="{BB962C8B-B14F-4D97-AF65-F5344CB8AC3E}">
        <p14:creationId xmlns:p14="http://schemas.microsoft.com/office/powerpoint/2010/main" val="40331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-panel">
            <a:extLst>
              <a:ext uri="{FF2B5EF4-FFF2-40B4-BE49-F238E27FC236}">
                <a16:creationId xmlns:a16="http://schemas.microsoft.com/office/drawing/2014/main" id="{850ABFC0-86BD-46B7-A8B0-4B63E853E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31AB19F-B3A1-4589-B427-5070B7D93A32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1925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lang="en-GB" sz="3300" b="1" dirty="0">
                <a:solidFill>
                  <a:srgbClr val="17212B"/>
                </a:solidFill>
              </a:rPr>
              <a:t>Overview</a:t>
            </a:r>
            <a:endParaRPr sz="3300" b="1" dirty="0">
              <a:solidFill>
                <a:srgbClr val="17212B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719248B2-E4C1-4F08-83F7-FD6E77D25B80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2076734" cy="47626"/>
          </a:xfrm>
          <a:prstGeom prst="rect">
            <a:avLst/>
          </a:prstGeom>
          <a:solidFill>
            <a:srgbClr val="0B7C86"/>
          </a:solidFill>
          <a:ln w="0">
            <a:solidFill>
              <a:srgbClr val="0B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CB330095-52D4-40CC-A1B5-2C7DD9029E8E}"/>
              </a:ext>
            </a:extLst>
          </p:cNvPr>
          <p:cNvSpPr>
            <a:spLocks noGrp="1"/>
          </p:cNvSpPr>
          <p:nvPr/>
        </p:nvSpPr>
        <p:spPr>
          <a:xfrm>
            <a:off x="761999" y="1219199"/>
            <a:ext cx="10128913" cy="4286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 dirty="0">
                <a:solidFill>
                  <a:srgbClr val="364454"/>
                </a:solidFill>
              </a:rPr>
              <a:t>The ODBC discussion is about throughput, staging ownership, and risk control.</a:t>
            </a:r>
          </a:p>
        </p:txBody>
      </p:sp>
      <p:sp>
        <p:nvSpPr>
          <p:cNvPr id="5" name="box-Why it is needed">
            <a:extLst>
              <a:ext uri="{FF2B5EF4-FFF2-40B4-BE49-F238E27FC236}">
                <a16:creationId xmlns:a16="http://schemas.microsoft.com/office/drawing/2014/main" id="{F60AB2DD-D178-4EF0-A262-17C4EA3B8303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5207000" cy="52863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ox-title-Why it is needed">
            <a:extLst>
              <a:ext uri="{FF2B5EF4-FFF2-40B4-BE49-F238E27FC236}">
                <a16:creationId xmlns:a16="http://schemas.microsoft.com/office/drawing/2014/main" id="{D91412AB-050F-4D2B-A4B7-17026E889C3C}"/>
              </a:ext>
            </a:extLst>
          </p:cNvPr>
          <p:cNvSpPr>
            <a:spLocks noGrp="1"/>
          </p:cNvSpPr>
          <p:nvPr/>
        </p:nvSpPr>
        <p:spPr>
          <a:xfrm>
            <a:off x="1009650" y="2038350"/>
            <a:ext cx="4705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Why it is needed</a:t>
            </a:r>
          </a:p>
        </p:txBody>
      </p:sp>
      <p:sp>
        <p:nvSpPr>
          <p:cNvPr id="7" name="box-sub-Why it is needed">
            <a:extLst>
              <a:ext uri="{FF2B5EF4-FFF2-40B4-BE49-F238E27FC236}">
                <a16:creationId xmlns:a16="http://schemas.microsoft.com/office/drawing/2014/main" id="{C6F5E499-AB53-40A0-AE41-920CCBCC48CF}"/>
              </a:ext>
            </a:extLst>
          </p:cNvPr>
          <p:cNvSpPr>
            <a:spLocks noGrp="1"/>
          </p:cNvSpPr>
          <p:nvPr/>
        </p:nvSpPr>
        <p:spPr>
          <a:xfrm>
            <a:off x="1009650" y="2381249"/>
            <a:ext cx="4705350" cy="212251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 dirty="0">
                <a:solidFill>
                  <a:srgbClr val="364454"/>
                </a:solidFill>
              </a:rPr>
              <a:t>Syniti must write the final converted rows into the HANA staging database used by SAP Migration Cockpit. ODBC is one supported HANA provider and unlocks Replicate bulk insert modes</a:t>
            </a:r>
            <a:r>
              <a:rPr lang="en-GB" sz="1350" dirty="0">
                <a:solidFill>
                  <a:srgbClr val="364454"/>
                </a:solidFill>
              </a:rPr>
              <a:t>. </a:t>
            </a:r>
            <a:endParaRPr sz="1350" dirty="0">
              <a:solidFill>
                <a:srgbClr val="364454"/>
              </a:solidFill>
            </a:endParaRPr>
          </a:p>
        </p:txBody>
      </p:sp>
      <p:sp>
        <p:nvSpPr>
          <p:cNvPr id="8" name="box-What it does not do">
            <a:extLst>
              <a:ext uri="{FF2B5EF4-FFF2-40B4-BE49-F238E27FC236}">
                <a16:creationId xmlns:a16="http://schemas.microsoft.com/office/drawing/2014/main" id="{E5CD9614-6892-4174-B879-70ED9E9EAB69}"/>
              </a:ext>
            </a:extLst>
          </p:cNvPr>
          <p:cNvSpPr>
            <a:spLocks noGrp="1"/>
          </p:cNvSpPr>
          <p:nvPr/>
        </p:nvSpPr>
        <p:spPr>
          <a:xfrm>
            <a:off x="6254750" y="1828800"/>
            <a:ext cx="5207000" cy="52863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box-title-What it does not do">
            <a:extLst>
              <a:ext uri="{FF2B5EF4-FFF2-40B4-BE49-F238E27FC236}">
                <a16:creationId xmlns:a16="http://schemas.microsoft.com/office/drawing/2014/main" id="{B05B90CA-988A-4FE5-948B-D7A6C1E59956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4705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What it does not do</a:t>
            </a:r>
          </a:p>
        </p:txBody>
      </p:sp>
      <p:sp>
        <p:nvSpPr>
          <p:cNvPr id="10" name="box-sub-What it does not do">
            <a:extLst>
              <a:ext uri="{FF2B5EF4-FFF2-40B4-BE49-F238E27FC236}">
                <a16:creationId xmlns:a16="http://schemas.microsoft.com/office/drawing/2014/main" id="{CB5060A7-F53A-4460-B843-7673267BD64E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4705350" cy="21225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 dirty="0">
                <a:solidFill>
                  <a:srgbClr val="364454"/>
                </a:solidFill>
              </a:rPr>
              <a:t>It does not load directly into S/4HANA application tables. The final business-object transfer remains SAP-controlled through LTMC / Migrate Your Data.</a:t>
            </a:r>
          </a:p>
        </p:txBody>
      </p:sp>
      <p:sp>
        <p:nvSpPr>
          <p:cNvPr id="11" name="box-How to secure it">
            <a:extLst>
              <a:ext uri="{FF2B5EF4-FFF2-40B4-BE49-F238E27FC236}">
                <a16:creationId xmlns:a16="http://schemas.microsoft.com/office/drawing/2014/main" id="{AA3E973E-95DE-4120-B5C8-D6278ECC7B95}"/>
              </a:ext>
            </a:extLst>
          </p:cNvPr>
          <p:cNvSpPr>
            <a:spLocks noGrp="1"/>
          </p:cNvSpPr>
          <p:nvPr/>
        </p:nvSpPr>
        <p:spPr>
          <a:xfrm>
            <a:off x="11747500" y="1828800"/>
            <a:ext cx="5207000" cy="52863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box-title-How to secure it">
            <a:extLst>
              <a:ext uri="{FF2B5EF4-FFF2-40B4-BE49-F238E27FC236}">
                <a16:creationId xmlns:a16="http://schemas.microsoft.com/office/drawing/2014/main" id="{C267DEC6-80FE-41DC-B484-C0C2CCCC1283}"/>
              </a:ext>
            </a:extLst>
          </p:cNvPr>
          <p:cNvSpPr>
            <a:spLocks noGrp="1"/>
          </p:cNvSpPr>
          <p:nvPr/>
        </p:nvSpPr>
        <p:spPr>
          <a:xfrm>
            <a:off x="12001500" y="2038350"/>
            <a:ext cx="4705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How to secure it</a:t>
            </a:r>
          </a:p>
        </p:txBody>
      </p:sp>
      <p:sp>
        <p:nvSpPr>
          <p:cNvPr id="13" name="box-sub-How to secure it">
            <a:extLst>
              <a:ext uri="{FF2B5EF4-FFF2-40B4-BE49-F238E27FC236}">
                <a16:creationId xmlns:a16="http://schemas.microsoft.com/office/drawing/2014/main" id="{E13C03EC-AD14-4210-B38A-84283AF35BF3}"/>
              </a:ext>
            </a:extLst>
          </p:cNvPr>
          <p:cNvSpPr>
            <a:spLocks noGrp="1"/>
          </p:cNvSpPr>
          <p:nvPr/>
        </p:nvSpPr>
        <p:spPr>
          <a:xfrm>
            <a:off x="12001500" y="2381250"/>
            <a:ext cx="4705350" cy="104433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 dirty="0">
                <a:solidFill>
                  <a:srgbClr val="364454"/>
                </a:solidFill>
              </a:rPr>
              <a:t>Use TLS/SSL, a dedicated technical user with schema-scoped privileges, private network paths, certificate hygiene, credential controls, and cutover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943BE8-66BE-4DB3-A730-5E3D22531781}"/>
              </a:ext>
            </a:extLst>
          </p:cNvPr>
          <p:cNvSpPr>
            <a:spLocks noGrp="1"/>
          </p:cNvSpPr>
          <p:nvPr/>
        </p:nvSpPr>
        <p:spPr>
          <a:xfrm>
            <a:off x="762000" y="7515225"/>
            <a:ext cx="16192500" cy="1238250"/>
          </a:xfrm>
          <a:prstGeom prst="roundRect">
            <a:avLst>
              <a:gd name="adj" fmla="val 6154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C0C692-6978-4497-BC04-543B275E5CEA}"/>
              </a:ext>
            </a:extLst>
          </p:cNvPr>
          <p:cNvSpPr>
            <a:spLocks noGrp="1"/>
          </p:cNvSpPr>
          <p:nvPr/>
        </p:nvSpPr>
        <p:spPr>
          <a:xfrm>
            <a:off x="1085850" y="7753350"/>
            <a:ext cx="155448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Recommendation: approve HANA ODBC for final-load staging only when it is limited to the Migration Cockpit schema and protected as a production data path.</a:t>
            </a:r>
          </a:p>
        </p:txBody>
      </p:sp>
      <p:sp>
        <p:nvSpPr>
          <p:cNvPr id="16" name="source-rail">
            <a:extLst>
              <a:ext uri="{FF2B5EF4-FFF2-40B4-BE49-F238E27FC236}">
                <a16:creationId xmlns:a16="http://schemas.microsoft.com/office/drawing/2014/main" id="{954AF44A-E933-409D-BA3C-3D74A9A6B9A2}"/>
              </a:ext>
            </a:extLst>
          </p:cNvPr>
          <p:cNvSpPr>
            <a:spLocks noGrp="1"/>
          </p:cNvSpPr>
          <p:nvPr/>
        </p:nvSpPr>
        <p:spPr>
          <a:xfrm>
            <a:off x="762000" y="9163050"/>
            <a:ext cx="161925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2598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-panel">
            <a:extLst>
              <a:ext uri="{FF2B5EF4-FFF2-40B4-BE49-F238E27FC236}">
                <a16:creationId xmlns:a16="http://schemas.microsoft.com/office/drawing/2014/main" id="{1BAF945C-1074-4E75-814B-0CE0D396A7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DC06032-D9FA-4530-A73B-448101DC9893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 dirty="0">
                <a:solidFill>
                  <a:srgbClr val="17212B"/>
                </a:solidFill>
              </a:rPr>
              <a:t>Final-load process into SAP S/4HANA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B62412DD-1CCE-4A35-9B87-A4A1D46E8D30}"/>
              </a:ext>
            </a:extLst>
          </p:cNvPr>
          <p:cNvSpPr>
            <a:spLocks noGrp="1"/>
          </p:cNvSpPr>
          <p:nvPr/>
        </p:nvSpPr>
        <p:spPr>
          <a:xfrm flipV="1">
            <a:off x="762000" y="952501"/>
            <a:ext cx="6921690" cy="76200"/>
          </a:xfrm>
          <a:prstGeom prst="rect">
            <a:avLst/>
          </a:prstGeom>
          <a:solidFill>
            <a:srgbClr val="0A6ED1"/>
          </a:solidFill>
          <a:ln w="0">
            <a:solidFill>
              <a:srgbClr val="0A6E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474BAF35-FAA4-43FB-A1B7-3587BC5ABA98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514764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 dirty="0">
                <a:solidFill>
                  <a:srgbClr val="364454"/>
                </a:solidFill>
              </a:rPr>
              <a:t>Syniti prepares the data; HANA staging receives it; SAP Migration Cockpit performs the business load.</a:t>
            </a:r>
          </a:p>
        </p:txBody>
      </p:sp>
      <p:sp>
        <p:nvSpPr>
          <p:cNvPr id="5" name="box-1. Extract &amp; scope">
            <a:extLst>
              <a:ext uri="{FF2B5EF4-FFF2-40B4-BE49-F238E27FC236}">
                <a16:creationId xmlns:a16="http://schemas.microsoft.com/office/drawing/2014/main" id="{584D10FD-6B19-47AA-9626-8DAB58DD7836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ox-title-1. Extract &amp; scope">
            <a:extLst>
              <a:ext uri="{FF2B5EF4-FFF2-40B4-BE49-F238E27FC236}">
                <a16:creationId xmlns:a16="http://schemas.microsoft.com/office/drawing/2014/main" id="{198969A8-DE01-49EB-A201-5E82B2AB0A1C}"/>
              </a:ext>
            </a:extLst>
          </p:cNvPr>
          <p:cNvSpPr>
            <a:spLocks noGrp="1"/>
          </p:cNvSpPr>
          <p:nvPr/>
        </p:nvSpPr>
        <p:spPr>
          <a:xfrm>
            <a:off x="1009650" y="21907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1. Extract &amp; scope</a:t>
            </a:r>
          </a:p>
        </p:txBody>
      </p:sp>
      <p:sp>
        <p:nvSpPr>
          <p:cNvPr id="7" name="box-sub-1. Extract &amp; scope">
            <a:extLst>
              <a:ext uri="{FF2B5EF4-FFF2-40B4-BE49-F238E27FC236}">
                <a16:creationId xmlns:a16="http://schemas.microsoft.com/office/drawing/2014/main" id="{26DC9801-C4D9-4956-93B9-1CDD2E0B2D99}"/>
              </a:ext>
            </a:extLst>
          </p:cNvPr>
          <p:cNvSpPr>
            <a:spLocks noGrp="1"/>
          </p:cNvSpPr>
          <p:nvPr/>
        </p:nvSpPr>
        <p:spPr>
          <a:xfrm>
            <a:off x="1009650" y="2514600"/>
            <a:ext cx="4552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Metadata and in-scope records from one or many legacy systems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E90A99BD-C1C0-403F-9354-8DFFF9E791F0}"/>
              </a:ext>
            </a:extLst>
          </p:cNvPr>
          <p:cNvSpPr>
            <a:spLocks noGrp="1"/>
          </p:cNvSpPr>
          <p:nvPr/>
        </p:nvSpPr>
        <p:spPr>
          <a:xfrm>
            <a:off x="5981700" y="19812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B7C86"/>
                </a:solidFill>
              </a:defRPr>
            </a:pPr>
            <a:r>
              <a:rPr sz="2625" b="1">
                <a:solidFill>
                  <a:srgbClr val="0B7C86"/>
                </a:solidFill>
              </a:rPr>
              <a:t>-&gt;</a:t>
            </a:r>
          </a:p>
        </p:txBody>
      </p:sp>
      <p:sp>
        <p:nvSpPr>
          <p:cNvPr id="9" name="box-2. Transform &amp; validate">
            <a:extLst>
              <a:ext uri="{FF2B5EF4-FFF2-40B4-BE49-F238E27FC236}">
                <a16:creationId xmlns:a16="http://schemas.microsoft.com/office/drawing/2014/main" id="{215FCF3D-6968-4DA5-A019-CFE5C9A2145B}"/>
              </a:ext>
            </a:extLst>
          </p:cNvPr>
          <p:cNvSpPr>
            <a:spLocks noGrp="1"/>
          </p:cNvSpPr>
          <p:nvPr/>
        </p:nvSpPr>
        <p:spPr>
          <a:xfrm>
            <a:off x="6616700" y="19716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box-title-2. Transform &amp; validate">
            <a:extLst>
              <a:ext uri="{FF2B5EF4-FFF2-40B4-BE49-F238E27FC236}">
                <a16:creationId xmlns:a16="http://schemas.microsoft.com/office/drawing/2014/main" id="{B5701F9B-1D32-4723-8704-E2019E3B7855}"/>
              </a:ext>
            </a:extLst>
          </p:cNvPr>
          <p:cNvSpPr>
            <a:spLocks noGrp="1"/>
          </p:cNvSpPr>
          <p:nvPr/>
        </p:nvSpPr>
        <p:spPr>
          <a:xfrm>
            <a:off x="6858000" y="21907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2. Transform &amp; validate</a:t>
            </a:r>
          </a:p>
        </p:txBody>
      </p:sp>
      <p:sp>
        <p:nvSpPr>
          <p:cNvPr id="11" name="box-sub-2. Transform &amp; validate">
            <a:extLst>
              <a:ext uri="{FF2B5EF4-FFF2-40B4-BE49-F238E27FC236}">
                <a16:creationId xmlns:a16="http://schemas.microsoft.com/office/drawing/2014/main" id="{FFFB436E-34C1-4D78-BC2F-F3923DE81B94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552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Rules, mappings, value mapping, readiness reports in Syniti Migrate</a:t>
            </a:r>
          </a:p>
        </p:txBody>
      </p:sp>
      <p:sp>
        <p:nvSpPr>
          <p:cNvPr id="12" name="arrow">
            <a:extLst>
              <a:ext uri="{FF2B5EF4-FFF2-40B4-BE49-F238E27FC236}">
                <a16:creationId xmlns:a16="http://schemas.microsoft.com/office/drawing/2014/main" id="{1313A366-FA05-4CED-8D00-E8C8A22C020D}"/>
              </a:ext>
            </a:extLst>
          </p:cNvPr>
          <p:cNvSpPr>
            <a:spLocks noGrp="1"/>
          </p:cNvSpPr>
          <p:nvPr/>
        </p:nvSpPr>
        <p:spPr>
          <a:xfrm>
            <a:off x="11849100" y="19812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B7C86"/>
                </a:solidFill>
              </a:defRPr>
            </a:pPr>
            <a:r>
              <a:rPr sz="2625" b="1">
                <a:solidFill>
                  <a:srgbClr val="0B7C86"/>
                </a:solidFill>
              </a:rPr>
              <a:t>-&gt;</a:t>
            </a:r>
          </a:p>
        </p:txBody>
      </p:sp>
      <p:sp>
        <p:nvSpPr>
          <p:cNvPr id="13" name="box-3. Generate jobs">
            <a:extLst>
              <a:ext uri="{FF2B5EF4-FFF2-40B4-BE49-F238E27FC236}">
                <a16:creationId xmlns:a16="http://schemas.microsoft.com/office/drawing/2014/main" id="{A264F6B9-F372-4060-8AAA-2412D8F4EDF8}"/>
              </a:ext>
            </a:extLst>
          </p:cNvPr>
          <p:cNvSpPr>
            <a:spLocks noGrp="1"/>
          </p:cNvSpPr>
          <p:nvPr/>
        </p:nvSpPr>
        <p:spPr>
          <a:xfrm>
            <a:off x="12471400" y="19716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box-title-3. Generate jobs">
            <a:extLst>
              <a:ext uri="{FF2B5EF4-FFF2-40B4-BE49-F238E27FC236}">
                <a16:creationId xmlns:a16="http://schemas.microsoft.com/office/drawing/2014/main" id="{11F570B9-0805-4441-B5FB-EC307E218FC1}"/>
              </a:ext>
            </a:extLst>
          </p:cNvPr>
          <p:cNvSpPr>
            <a:spLocks noGrp="1"/>
          </p:cNvSpPr>
          <p:nvPr/>
        </p:nvSpPr>
        <p:spPr>
          <a:xfrm>
            <a:off x="12725400" y="21907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3. Generate jobs</a:t>
            </a:r>
          </a:p>
        </p:txBody>
      </p:sp>
      <p:sp>
        <p:nvSpPr>
          <p:cNvPr id="15" name="box-sub-3. Generate jobs">
            <a:extLst>
              <a:ext uri="{FF2B5EF4-FFF2-40B4-BE49-F238E27FC236}">
                <a16:creationId xmlns:a16="http://schemas.microsoft.com/office/drawing/2014/main" id="{5D0D6291-52E0-43B3-AC00-1438E14D15E8}"/>
              </a:ext>
            </a:extLst>
          </p:cNvPr>
          <p:cNvSpPr>
            <a:spLocks noGrp="1"/>
          </p:cNvSpPr>
          <p:nvPr/>
        </p:nvSpPr>
        <p:spPr>
          <a:xfrm>
            <a:off x="12725400" y="2514600"/>
            <a:ext cx="4552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Dataset XML creates Data Services flows and LTMC staging export steps</a:t>
            </a:r>
          </a:p>
        </p:txBody>
      </p:sp>
      <p:sp>
        <p:nvSpPr>
          <p:cNvPr id="16" name="box-4. Load HANA staging">
            <a:extLst>
              <a:ext uri="{FF2B5EF4-FFF2-40B4-BE49-F238E27FC236}">
                <a16:creationId xmlns:a16="http://schemas.microsoft.com/office/drawing/2014/main" id="{AA54EE1D-D21E-4A3A-850C-A224B8654139}"/>
              </a:ext>
            </a:extLst>
          </p:cNvPr>
          <p:cNvSpPr>
            <a:spLocks noGrp="1"/>
          </p:cNvSpPr>
          <p:nvPr/>
        </p:nvSpPr>
        <p:spPr>
          <a:xfrm>
            <a:off x="762000" y="42957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EAF7F7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box-title-4. Load HANA staging">
            <a:extLst>
              <a:ext uri="{FF2B5EF4-FFF2-40B4-BE49-F238E27FC236}">
                <a16:creationId xmlns:a16="http://schemas.microsoft.com/office/drawing/2014/main" id="{D2FBB825-2CBA-41E6-8CF3-3A546B9F610C}"/>
              </a:ext>
            </a:extLst>
          </p:cNvPr>
          <p:cNvSpPr>
            <a:spLocks noGrp="1"/>
          </p:cNvSpPr>
          <p:nvPr/>
        </p:nvSpPr>
        <p:spPr>
          <a:xfrm>
            <a:off x="1009650" y="45148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4. Load HANA staging</a:t>
            </a:r>
          </a:p>
        </p:txBody>
      </p:sp>
      <p:sp>
        <p:nvSpPr>
          <p:cNvPr id="18" name="box-sub-4. Load HANA staging">
            <a:extLst>
              <a:ext uri="{FF2B5EF4-FFF2-40B4-BE49-F238E27FC236}">
                <a16:creationId xmlns:a16="http://schemas.microsoft.com/office/drawing/2014/main" id="{B402F876-A21A-4B98-A8DC-50030721D3A6}"/>
              </a:ext>
            </a:extLst>
          </p:cNvPr>
          <p:cNvSpPr>
            <a:spLocks noGrp="1"/>
          </p:cNvSpPr>
          <p:nvPr/>
        </p:nvSpPr>
        <p:spPr>
          <a:xfrm>
            <a:off x="1009650" y="4838700"/>
            <a:ext cx="4552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Rows move from conversion database to Migration Cockpit HANA tables</a:t>
            </a:r>
          </a:p>
        </p:txBody>
      </p:sp>
      <p:sp>
        <p:nvSpPr>
          <p:cNvPr id="19" name="arrow">
            <a:extLst>
              <a:ext uri="{FF2B5EF4-FFF2-40B4-BE49-F238E27FC236}">
                <a16:creationId xmlns:a16="http://schemas.microsoft.com/office/drawing/2014/main" id="{C5C0C7B1-84F0-40B6-A63D-5CC46ED9B2CB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A6ED1"/>
                </a:solidFill>
              </a:defRPr>
            </a:pPr>
            <a:r>
              <a:rPr sz="2625" b="1">
                <a:solidFill>
                  <a:srgbClr val="0A6ED1"/>
                </a:solidFill>
              </a:rPr>
              <a:t>-&gt;</a:t>
            </a:r>
          </a:p>
        </p:txBody>
      </p:sp>
      <p:sp>
        <p:nvSpPr>
          <p:cNvPr id="20" name="box-5. Transfer in SAP">
            <a:extLst>
              <a:ext uri="{FF2B5EF4-FFF2-40B4-BE49-F238E27FC236}">
                <a16:creationId xmlns:a16="http://schemas.microsoft.com/office/drawing/2014/main" id="{3F88137B-8CA4-4F58-AF75-E2FE296FCDEC}"/>
              </a:ext>
            </a:extLst>
          </p:cNvPr>
          <p:cNvSpPr>
            <a:spLocks noGrp="1"/>
          </p:cNvSpPr>
          <p:nvPr/>
        </p:nvSpPr>
        <p:spPr>
          <a:xfrm>
            <a:off x="6616700" y="42957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E7F2FE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box-title-5. Transfer in SAP">
            <a:extLst>
              <a:ext uri="{FF2B5EF4-FFF2-40B4-BE49-F238E27FC236}">
                <a16:creationId xmlns:a16="http://schemas.microsoft.com/office/drawing/2014/main" id="{82A01540-6632-4FF6-A0B4-DB654A3F5810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5. Transfer in SAP</a:t>
            </a:r>
          </a:p>
        </p:txBody>
      </p:sp>
      <p:sp>
        <p:nvSpPr>
          <p:cNvPr id="22" name="box-sub-5. Transfer in SAP">
            <a:extLst>
              <a:ext uri="{FF2B5EF4-FFF2-40B4-BE49-F238E27FC236}">
                <a16:creationId xmlns:a16="http://schemas.microsoft.com/office/drawing/2014/main" id="{72B37C29-8C28-48A8-8847-29E5A2D590B0}"/>
              </a:ext>
            </a:extLst>
          </p:cNvPr>
          <p:cNvSpPr>
            <a:spLocks noGrp="1"/>
          </p:cNvSpPr>
          <p:nvPr/>
        </p:nvSpPr>
        <p:spPr>
          <a:xfrm>
            <a:off x="6858000" y="4838700"/>
            <a:ext cx="4552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Migration Cockpit validates and posts to S/4HANA business objects</a:t>
            </a:r>
          </a:p>
        </p:txBody>
      </p:sp>
      <p:sp>
        <p:nvSpPr>
          <p:cNvPr id="23" name="arrow">
            <a:extLst>
              <a:ext uri="{FF2B5EF4-FFF2-40B4-BE49-F238E27FC236}">
                <a16:creationId xmlns:a16="http://schemas.microsoft.com/office/drawing/2014/main" id="{FC55D313-D828-4E6D-918D-906E1DF1CAED}"/>
              </a:ext>
            </a:extLst>
          </p:cNvPr>
          <p:cNvSpPr>
            <a:spLocks noGrp="1"/>
          </p:cNvSpPr>
          <p:nvPr/>
        </p:nvSpPr>
        <p:spPr>
          <a:xfrm>
            <a:off x="11849100" y="430530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0A6ED1"/>
                </a:solidFill>
              </a:defRPr>
            </a:pPr>
            <a:r>
              <a:rPr sz="2625" b="1">
                <a:solidFill>
                  <a:srgbClr val="0A6ED1"/>
                </a:solidFill>
              </a:rPr>
              <a:t>-&gt;</a:t>
            </a:r>
          </a:p>
        </p:txBody>
      </p:sp>
      <p:sp>
        <p:nvSpPr>
          <p:cNvPr id="24" name="box-6. Reconcile">
            <a:extLst>
              <a:ext uri="{FF2B5EF4-FFF2-40B4-BE49-F238E27FC236}">
                <a16:creationId xmlns:a16="http://schemas.microsoft.com/office/drawing/2014/main" id="{7F1DF1DE-6618-4EA7-9A5D-D6656E581041}"/>
              </a:ext>
            </a:extLst>
          </p:cNvPr>
          <p:cNvSpPr>
            <a:spLocks noGrp="1"/>
          </p:cNvSpPr>
          <p:nvPr/>
        </p:nvSpPr>
        <p:spPr>
          <a:xfrm>
            <a:off x="12471400" y="4295775"/>
            <a:ext cx="50546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box-title-6. Reconcile">
            <a:extLst>
              <a:ext uri="{FF2B5EF4-FFF2-40B4-BE49-F238E27FC236}">
                <a16:creationId xmlns:a16="http://schemas.microsoft.com/office/drawing/2014/main" id="{21E8DDE2-C61A-45A5-B7A1-6C3EF6F4B4E7}"/>
              </a:ext>
            </a:extLst>
          </p:cNvPr>
          <p:cNvSpPr>
            <a:spLocks noGrp="1"/>
          </p:cNvSpPr>
          <p:nvPr/>
        </p:nvSpPr>
        <p:spPr>
          <a:xfrm>
            <a:off x="12725400" y="4514850"/>
            <a:ext cx="4552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6. Reconcile</a:t>
            </a:r>
          </a:p>
        </p:txBody>
      </p:sp>
      <p:sp>
        <p:nvSpPr>
          <p:cNvPr id="26" name="box-sub-6. Reconcile">
            <a:extLst>
              <a:ext uri="{FF2B5EF4-FFF2-40B4-BE49-F238E27FC236}">
                <a16:creationId xmlns:a16="http://schemas.microsoft.com/office/drawing/2014/main" id="{547E4D5A-50F4-4A15-9AC3-404B94C9F4B4}"/>
              </a:ext>
            </a:extLst>
          </p:cNvPr>
          <p:cNvSpPr>
            <a:spLocks noGrp="1"/>
          </p:cNvSpPr>
          <p:nvPr/>
        </p:nvSpPr>
        <p:spPr>
          <a:xfrm>
            <a:off x="12725400" y="4838700"/>
            <a:ext cx="4552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Stage Ready, Target Ready, postload and delta reporting close the loop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3327E12-D0A8-46C9-BB7A-170776302366}"/>
              </a:ext>
            </a:extLst>
          </p:cNvPr>
          <p:cNvSpPr>
            <a:spLocks noGrp="1"/>
          </p:cNvSpPr>
          <p:nvPr/>
        </p:nvSpPr>
        <p:spPr>
          <a:xfrm>
            <a:off x="762000" y="6619875"/>
            <a:ext cx="16764000" cy="1066800"/>
          </a:xfrm>
          <a:prstGeom prst="roundRect">
            <a:avLst>
              <a:gd name="adj" fmla="val 7143"/>
            </a:avLst>
          </a:prstGeom>
          <a:solidFill>
            <a:srgbClr val="EEF4F7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066CC-6443-4B42-A7A2-9670D2BBF98B}"/>
              </a:ext>
            </a:extLst>
          </p:cNvPr>
          <p:cNvSpPr>
            <a:spLocks noGrp="1"/>
          </p:cNvSpPr>
          <p:nvPr/>
        </p:nvSpPr>
        <p:spPr>
          <a:xfrm>
            <a:off x="1028700" y="6800850"/>
            <a:ext cx="16230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 dirty="0">
                <a:solidFill>
                  <a:srgbClr val="17212B"/>
                </a:solidFill>
              </a:rPr>
              <a:t>Migration Cockpit creates staging tables per object; Syniti/Data Services fills those tables; SAP completes the transfer into S/4HANA.</a:t>
            </a:r>
          </a:p>
        </p:txBody>
      </p:sp>
      <p:sp>
        <p:nvSpPr>
          <p:cNvPr id="29" name="source-rail">
            <a:extLst>
              <a:ext uri="{FF2B5EF4-FFF2-40B4-BE49-F238E27FC236}">
                <a16:creationId xmlns:a16="http://schemas.microsoft.com/office/drawing/2014/main" id="{74E76FA3-859F-4A83-9EFC-446246C9253A}"/>
              </a:ext>
            </a:extLst>
          </p:cNvPr>
          <p:cNvSpPr>
            <a:spLocks noGrp="1"/>
          </p:cNvSpPr>
          <p:nvPr/>
        </p:nvSpPr>
        <p:spPr>
          <a:xfrm>
            <a:off x="762000" y="802005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33037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g-panel">
            <a:extLst>
              <a:ext uri="{FF2B5EF4-FFF2-40B4-BE49-F238E27FC236}">
                <a16:creationId xmlns:a16="http://schemas.microsoft.com/office/drawing/2014/main" id="{E4C8AB35-9976-4840-8C12-5D140BD29F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8AF1A7F-7FF3-45F2-9123-B244768BB065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What actually happens during final load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B311B6E2-62B6-4C1F-B606-DEA49B06BCF5}"/>
              </a:ext>
            </a:extLst>
          </p:cNvPr>
          <p:cNvSpPr>
            <a:spLocks noGrp="1"/>
          </p:cNvSpPr>
          <p:nvPr/>
        </p:nvSpPr>
        <p:spPr>
          <a:xfrm>
            <a:off x="761999" y="1028700"/>
            <a:ext cx="7180997" cy="45719"/>
          </a:xfrm>
          <a:prstGeom prst="rect">
            <a:avLst/>
          </a:prstGeom>
          <a:solidFill>
            <a:srgbClr val="0B7C86"/>
          </a:solidFill>
          <a:ln w="0">
            <a:solidFill>
              <a:srgbClr val="0B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0C723C5C-8D28-4092-82F6-E1F01E0DDA17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41910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The handoff is table-based until SAP takes over.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280B24-CE3D-4C18-B2F6-3359D267E7CF}"/>
              </a:ext>
            </a:extLst>
          </p:cNvPr>
          <p:cNvSpPr>
            <a:spLocks noGrp="1"/>
          </p:cNvSpPr>
          <p:nvPr/>
        </p:nvSpPr>
        <p:spPr>
          <a:xfrm>
            <a:off x="762000" y="19145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17B1B6-0D56-4E82-9611-7E632DE03887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C74B7-6EE8-46C4-BC45-9ABACEDC79C3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664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Project chooses S/4HANA target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1738F1-0624-4DF5-96A8-962A391ECB60}"/>
              </a:ext>
            </a:extLst>
          </p:cNvPr>
          <p:cNvSpPr>
            <a:spLocks noGrp="1"/>
          </p:cNvSpPr>
          <p:nvPr/>
        </p:nvSpPr>
        <p:spPr>
          <a:xfrm>
            <a:off x="1409700" y="2228850"/>
            <a:ext cx="5810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The dataset uses LTMC Staging so generated XML includes staging export steps.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0F037D-9231-4158-A884-2EC34C9FA822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4A9215-3AF3-4023-B03A-C0DF1313DC49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43ABD2-BF7E-4F86-8391-41813D0F5FA2}"/>
              </a:ext>
            </a:extLst>
          </p:cNvPr>
          <p:cNvSpPr>
            <a:spLocks noGrp="1"/>
          </p:cNvSpPr>
          <p:nvPr/>
        </p:nvSpPr>
        <p:spPr>
          <a:xfrm>
            <a:off x="1409700" y="2609850"/>
            <a:ext cx="664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xAppLTMC is available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609FFB-CA45-4DD3-AA3A-F92FE97F1292}"/>
              </a:ext>
            </a:extLst>
          </p:cNvPr>
          <p:cNvSpPr>
            <a:spLocks noGrp="1"/>
          </p:cNvSpPr>
          <p:nvPr/>
        </p:nvSpPr>
        <p:spPr>
          <a:xfrm>
            <a:off x="1409700" y="2914650"/>
            <a:ext cx="60579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A Data Services datastore points to the HANA DB/schema where Migration Cockpit staging tables exist.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A59202-5662-4A5B-8832-589223490B92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62FF3D-AF1E-4374-9A32-4347A06D5119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846740-AF95-4FCB-BA6F-B8591FD4CF97}"/>
              </a:ext>
            </a:extLst>
          </p:cNvPr>
          <p:cNvSpPr>
            <a:spLocks noGrp="1"/>
          </p:cNvSpPr>
          <p:nvPr/>
        </p:nvSpPr>
        <p:spPr>
          <a:xfrm>
            <a:off x="1409700" y="3486150"/>
            <a:ext cx="664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Export job writes template tables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D975E7-3EF6-4DDB-994F-2E180AF807F2}"/>
              </a:ext>
            </a:extLst>
          </p:cNvPr>
          <p:cNvSpPr>
            <a:spLocks noGrp="1"/>
          </p:cNvSpPr>
          <p:nvPr/>
        </p:nvSpPr>
        <p:spPr>
          <a:xfrm>
            <a:off x="1409700" y="3790950"/>
            <a:ext cx="55816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Data Services transfers target rows from the conversion database into HANA staging/template tables.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32A0CB-F016-4EB9-8C1D-5386637AFD8B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DA2D23-045B-4A44-8924-8797A8645834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84D16B-7144-429E-A856-4C57230065CD}"/>
              </a:ext>
            </a:extLst>
          </p:cNvPr>
          <p:cNvSpPr>
            <a:spLocks noGrp="1"/>
          </p:cNvSpPr>
          <p:nvPr/>
        </p:nvSpPr>
        <p:spPr>
          <a:xfrm>
            <a:off x="1409700" y="4362450"/>
            <a:ext cx="664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Migration Cockpit transfers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B4D1CA-6349-4006-8C31-273FC6855270}"/>
              </a:ext>
            </a:extLst>
          </p:cNvPr>
          <p:cNvSpPr>
            <a:spLocks noGrp="1"/>
          </p:cNvSpPr>
          <p:nvPr/>
        </p:nvSpPr>
        <p:spPr>
          <a:xfrm>
            <a:off x="1409700" y="4667250"/>
            <a:ext cx="48768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SAP runs Transfer Data, validates, and posts records into S/4HANA.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8FA21FB-5447-4FCF-8DA4-99D64E43C27E}"/>
              </a:ext>
            </a:extLst>
          </p:cNvPr>
          <p:cNvSpPr>
            <a:spLocks noGrp="1"/>
          </p:cNvSpPr>
          <p:nvPr/>
        </p:nvSpPr>
        <p:spPr>
          <a:xfrm>
            <a:off x="8609648" y="1914525"/>
            <a:ext cx="8916353" cy="6429375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5BA699-25CF-4A13-ACB3-8AE027AAFCC1}"/>
              </a:ext>
            </a:extLst>
          </p:cNvPr>
          <p:cNvSpPr>
            <a:spLocks noGrp="1"/>
          </p:cNvSpPr>
          <p:nvPr/>
        </p:nvSpPr>
        <p:spPr>
          <a:xfrm>
            <a:off x="8934450" y="2247900"/>
            <a:ext cx="8267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7212B"/>
                </a:solidFill>
              </a:defRPr>
            </a:pPr>
            <a:r>
              <a:rPr sz="2550" b="1">
                <a:solidFill>
                  <a:srgbClr val="17212B"/>
                </a:solidFill>
              </a:rPr>
              <a:t>Load control points</a:t>
            </a:r>
          </a:p>
        </p:txBody>
      </p:sp>
      <p:sp>
        <p:nvSpPr>
          <p:cNvPr id="23" name="box-Cutover freeze">
            <a:extLst>
              <a:ext uri="{FF2B5EF4-FFF2-40B4-BE49-F238E27FC236}">
                <a16:creationId xmlns:a16="http://schemas.microsoft.com/office/drawing/2014/main" id="{C83CFA7C-2F7A-4F6A-B507-AB9A62D19E89}"/>
              </a:ext>
            </a:extLst>
          </p:cNvPr>
          <p:cNvSpPr>
            <a:spLocks noGrp="1"/>
          </p:cNvSpPr>
          <p:nvPr/>
        </p:nvSpPr>
        <p:spPr>
          <a:xfrm>
            <a:off x="8933498" y="2790825"/>
            <a:ext cx="4048601" cy="1962150"/>
          </a:xfrm>
          <a:prstGeom prst="roundRect">
            <a:avLst>
              <a:gd name="adj" fmla="val 3883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box-title-Cutover freeze">
            <a:extLst>
              <a:ext uri="{FF2B5EF4-FFF2-40B4-BE49-F238E27FC236}">
                <a16:creationId xmlns:a16="http://schemas.microsoft.com/office/drawing/2014/main" id="{77E3FD51-05AB-4FE9-8D30-09B3729B4C1F}"/>
              </a:ext>
            </a:extLst>
          </p:cNvPr>
          <p:cNvSpPr>
            <a:spLocks noGrp="1"/>
          </p:cNvSpPr>
          <p:nvPr/>
        </p:nvSpPr>
        <p:spPr>
          <a:xfrm>
            <a:off x="9182100" y="3009900"/>
            <a:ext cx="3562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Cutover freeze</a:t>
            </a:r>
          </a:p>
        </p:txBody>
      </p:sp>
      <p:sp>
        <p:nvSpPr>
          <p:cNvPr id="25" name="box-sub-Cutover freeze">
            <a:extLst>
              <a:ext uri="{FF2B5EF4-FFF2-40B4-BE49-F238E27FC236}">
                <a16:creationId xmlns:a16="http://schemas.microsoft.com/office/drawing/2014/main" id="{88D5031F-BB74-452F-8253-35EEF528A519}"/>
              </a:ext>
            </a:extLst>
          </p:cNvPr>
          <p:cNvSpPr>
            <a:spLocks noGrp="1"/>
          </p:cNvSpPr>
          <p:nvPr/>
        </p:nvSpPr>
        <p:spPr>
          <a:xfrm>
            <a:off x="9182100" y="3333750"/>
            <a:ext cx="3562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Source extract/version aligned to load wave</a:t>
            </a:r>
          </a:p>
        </p:txBody>
      </p:sp>
      <p:sp>
        <p:nvSpPr>
          <p:cNvPr id="26" name="box-Data Ready">
            <a:extLst>
              <a:ext uri="{FF2B5EF4-FFF2-40B4-BE49-F238E27FC236}">
                <a16:creationId xmlns:a16="http://schemas.microsoft.com/office/drawing/2014/main" id="{F0081A9F-26CD-49A2-8A0E-FDBC8D8456A3}"/>
              </a:ext>
            </a:extLst>
          </p:cNvPr>
          <p:cNvSpPr>
            <a:spLocks noGrp="1"/>
          </p:cNvSpPr>
          <p:nvPr/>
        </p:nvSpPr>
        <p:spPr>
          <a:xfrm>
            <a:off x="13153549" y="2790825"/>
            <a:ext cx="4048601" cy="1962150"/>
          </a:xfrm>
          <a:prstGeom prst="roundRect">
            <a:avLst>
              <a:gd name="adj" fmla="val 3883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box-title-Data Ready">
            <a:extLst>
              <a:ext uri="{FF2B5EF4-FFF2-40B4-BE49-F238E27FC236}">
                <a16:creationId xmlns:a16="http://schemas.microsoft.com/office/drawing/2014/main" id="{616AD2AC-C49C-42A0-90D2-3AF9166680E3}"/>
              </a:ext>
            </a:extLst>
          </p:cNvPr>
          <p:cNvSpPr>
            <a:spLocks noGrp="1"/>
          </p:cNvSpPr>
          <p:nvPr/>
        </p:nvSpPr>
        <p:spPr>
          <a:xfrm>
            <a:off x="13392150" y="3009900"/>
            <a:ext cx="3562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Data Ready</a:t>
            </a:r>
          </a:p>
        </p:txBody>
      </p:sp>
      <p:sp>
        <p:nvSpPr>
          <p:cNvPr id="28" name="box-sub-Data Ready">
            <a:extLst>
              <a:ext uri="{FF2B5EF4-FFF2-40B4-BE49-F238E27FC236}">
                <a16:creationId xmlns:a16="http://schemas.microsoft.com/office/drawing/2014/main" id="{B25D9AA9-6624-49A4-9557-7C5511E0CFEF}"/>
              </a:ext>
            </a:extLst>
          </p:cNvPr>
          <p:cNvSpPr>
            <a:spLocks noGrp="1"/>
          </p:cNvSpPr>
          <p:nvPr/>
        </p:nvSpPr>
        <p:spPr>
          <a:xfrm>
            <a:off x="13392150" y="3333750"/>
            <a:ext cx="3562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Critical errors resolved before HANA staging</a:t>
            </a:r>
          </a:p>
        </p:txBody>
      </p:sp>
      <p:sp>
        <p:nvSpPr>
          <p:cNvPr id="29" name="box-SAP validation">
            <a:extLst>
              <a:ext uri="{FF2B5EF4-FFF2-40B4-BE49-F238E27FC236}">
                <a16:creationId xmlns:a16="http://schemas.microsoft.com/office/drawing/2014/main" id="{0E0EEC76-D7A9-432B-AFF2-CF054EBA4756}"/>
              </a:ext>
            </a:extLst>
          </p:cNvPr>
          <p:cNvSpPr>
            <a:spLocks noGrp="1"/>
          </p:cNvSpPr>
          <p:nvPr/>
        </p:nvSpPr>
        <p:spPr>
          <a:xfrm>
            <a:off x="8933498" y="4924425"/>
            <a:ext cx="4048601" cy="1962150"/>
          </a:xfrm>
          <a:prstGeom prst="roundRect">
            <a:avLst>
              <a:gd name="adj" fmla="val 3883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box-title-SAP validation">
            <a:extLst>
              <a:ext uri="{FF2B5EF4-FFF2-40B4-BE49-F238E27FC236}">
                <a16:creationId xmlns:a16="http://schemas.microsoft.com/office/drawing/2014/main" id="{176D5E7C-B7F0-40D2-9A4A-45489FA20409}"/>
              </a:ext>
            </a:extLst>
          </p:cNvPr>
          <p:cNvSpPr>
            <a:spLocks noGrp="1"/>
          </p:cNvSpPr>
          <p:nvPr/>
        </p:nvSpPr>
        <p:spPr>
          <a:xfrm>
            <a:off x="9182100" y="5143500"/>
            <a:ext cx="3562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validation</a:t>
            </a:r>
          </a:p>
        </p:txBody>
      </p:sp>
      <p:sp>
        <p:nvSpPr>
          <p:cNvPr id="31" name="box-sub-SAP validation">
            <a:extLst>
              <a:ext uri="{FF2B5EF4-FFF2-40B4-BE49-F238E27FC236}">
                <a16:creationId xmlns:a16="http://schemas.microsoft.com/office/drawing/2014/main" id="{9D9E1170-B8C3-46D8-AE48-F6999D53A117}"/>
              </a:ext>
            </a:extLst>
          </p:cNvPr>
          <p:cNvSpPr>
            <a:spLocks noGrp="1"/>
          </p:cNvSpPr>
          <p:nvPr/>
        </p:nvSpPr>
        <p:spPr>
          <a:xfrm>
            <a:off x="9182100" y="5467350"/>
            <a:ext cx="3562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Cockpit checks object rules and dependencies</a:t>
            </a:r>
          </a:p>
        </p:txBody>
      </p:sp>
      <p:sp>
        <p:nvSpPr>
          <p:cNvPr id="32" name="box-Postload proof">
            <a:extLst>
              <a:ext uri="{FF2B5EF4-FFF2-40B4-BE49-F238E27FC236}">
                <a16:creationId xmlns:a16="http://schemas.microsoft.com/office/drawing/2014/main" id="{2BCA901F-1631-439D-AB24-E04D64C9A0D9}"/>
              </a:ext>
            </a:extLst>
          </p:cNvPr>
          <p:cNvSpPr>
            <a:spLocks noGrp="1"/>
          </p:cNvSpPr>
          <p:nvPr/>
        </p:nvSpPr>
        <p:spPr>
          <a:xfrm>
            <a:off x="13153549" y="4924425"/>
            <a:ext cx="4048601" cy="1962150"/>
          </a:xfrm>
          <a:prstGeom prst="roundRect">
            <a:avLst>
              <a:gd name="adj" fmla="val 3883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box-title-Postload proof">
            <a:extLst>
              <a:ext uri="{FF2B5EF4-FFF2-40B4-BE49-F238E27FC236}">
                <a16:creationId xmlns:a16="http://schemas.microsoft.com/office/drawing/2014/main" id="{B05DF6AE-3E01-457C-A7AE-046388D7755F}"/>
              </a:ext>
            </a:extLst>
          </p:cNvPr>
          <p:cNvSpPr>
            <a:spLocks noGrp="1"/>
          </p:cNvSpPr>
          <p:nvPr/>
        </p:nvSpPr>
        <p:spPr>
          <a:xfrm>
            <a:off x="13392150" y="5143500"/>
            <a:ext cx="3562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Postload proof</a:t>
            </a:r>
          </a:p>
        </p:txBody>
      </p:sp>
      <p:sp>
        <p:nvSpPr>
          <p:cNvPr id="34" name="box-sub-Postload proof">
            <a:extLst>
              <a:ext uri="{FF2B5EF4-FFF2-40B4-BE49-F238E27FC236}">
                <a16:creationId xmlns:a16="http://schemas.microsoft.com/office/drawing/2014/main" id="{85150E6E-EE3E-4647-8095-C82669B1296D}"/>
              </a:ext>
            </a:extLst>
          </p:cNvPr>
          <p:cNvSpPr>
            <a:spLocks noGrp="1"/>
          </p:cNvSpPr>
          <p:nvPr/>
        </p:nvSpPr>
        <p:spPr>
          <a:xfrm>
            <a:off x="13392150" y="5467350"/>
            <a:ext cx="3562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Counts, rejects, deltas and target readiness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A1CF5F-2FBD-4AAE-AA33-368E2E1D8C67}"/>
              </a:ext>
            </a:extLst>
          </p:cNvPr>
          <p:cNvSpPr>
            <a:spLocks noGrp="1"/>
          </p:cNvSpPr>
          <p:nvPr/>
        </p:nvSpPr>
        <p:spPr>
          <a:xfrm>
            <a:off x="8934450" y="7124700"/>
            <a:ext cx="82677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75C64"/>
                </a:solidFill>
              </a:defRPr>
            </a:pPr>
            <a:r>
              <a:rPr sz="2100" b="1">
                <a:solidFill>
                  <a:srgbClr val="075C64"/>
                </a:solidFill>
              </a:rPr>
              <a:t>The HANA connection carries already-mapped target data into a SAP-owned staging interface.</a:t>
            </a:r>
          </a:p>
        </p:txBody>
      </p:sp>
      <p:sp>
        <p:nvSpPr>
          <p:cNvPr id="36" name="source-rail">
            <a:extLst>
              <a:ext uri="{FF2B5EF4-FFF2-40B4-BE49-F238E27FC236}">
                <a16:creationId xmlns:a16="http://schemas.microsoft.com/office/drawing/2014/main" id="{F1D4B94E-CFC4-4C3F-8742-BFF0D7F1720C}"/>
              </a:ext>
            </a:extLst>
          </p:cNvPr>
          <p:cNvSpPr>
            <a:spLocks noGrp="1"/>
          </p:cNvSpPr>
          <p:nvPr/>
        </p:nvSpPr>
        <p:spPr>
          <a:xfrm>
            <a:off x="762000" y="861060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194086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-panel">
            <a:extLst>
              <a:ext uri="{FF2B5EF4-FFF2-40B4-BE49-F238E27FC236}">
                <a16:creationId xmlns:a16="http://schemas.microsoft.com/office/drawing/2014/main" id="{155FF4B8-A58A-4034-891F-A6A94E1282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EB181E8-4818-40D5-9BB1-2359CC4C40BC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Why a SAP HANA ODBC connection is required in this pattern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CD704C9-FEF0-4654-93B9-6AD969E690B3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0784006" cy="45719"/>
          </a:xfrm>
          <a:prstGeom prst="rect">
            <a:avLst/>
          </a:prstGeom>
          <a:solidFill>
            <a:srgbClr val="20A4F3"/>
          </a:solidFill>
          <a:ln w="0">
            <a:solidFill>
              <a:srgbClr val="20A4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746BD0EA-3D42-452E-82EF-BE47477E3454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8869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For the final-load bridge, it gives Syniti components a supported, high-throughput SQL route into HANA staging.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7C7DE4-A452-49B7-88E7-D1B6A6B43746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9F189-9006-42DB-9F75-61E0B1FE8401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D36E7-A843-4778-B051-32FF5DD0ECCA}"/>
              </a:ext>
            </a:extLst>
          </p:cNvPr>
          <p:cNvSpPr>
            <a:spLocks noGrp="1"/>
          </p:cNvSpPr>
          <p:nvPr/>
        </p:nvSpPr>
        <p:spPr>
          <a:xfrm>
            <a:off x="1409700" y="1943100"/>
            <a:ext cx="8343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Driver contract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9D9BF-7C0F-4360-A8B0-FE81E15A9F85}"/>
              </a:ext>
            </a:extLst>
          </p:cNvPr>
          <p:cNvSpPr>
            <a:spLocks noGrp="1"/>
          </p:cNvSpPr>
          <p:nvPr/>
        </p:nvSpPr>
        <p:spPr>
          <a:xfrm>
            <a:off x="1409700" y="2247900"/>
            <a:ext cx="6191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SAP HANA Client 2.22+ provides the SAP HANA ODBC driver used by Replicate or ETL components on the server.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3621E6-474F-4A59-BB46-39544FA91BEC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8E8EFB-EEE1-4658-992D-41BBDA5B0B09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9EF0C-BA8B-412D-BE5D-C571B9871B56}"/>
              </a:ext>
            </a:extLst>
          </p:cNvPr>
          <p:cNvSpPr>
            <a:spLocks noGrp="1"/>
          </p:cNvSpPr>
          <p:nvPr/>
        </p:nvSpPr>
        <p:spPr>
          <a:xfrm>
            <a:off x="1409700" y="2781300"/>
            <a:ext cx="8343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Bulk load 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75827-4452-4098-B629-86E5574667AA}"/>
              </a:ext>
            </a:extLst>
          </p:cNvPr>
          <p:cNvSpPr>
            <a:spLocks noGrp="1"/>
          </p:cNvSpPr>
          <p:nvPr/>
        </p:nvSpPr>
        <p:spPr>
          <a:xfrm>
            <a:off x="1409700" y="3086100"/>
            <a:ext cx="65151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Syniti Replicate documents ODBC bulk insert modes: ArrayBinding for multi-row calls and FTP for on-premises HANA only.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58E99D-EEEE-4AE2-A40E-E83A70298C4A}"/>
              </a:ext>
            </a:extLst>
          </p:cNvPr>
          <p:cNvSpPr>
            <a:spLocks noGrp="1"/>
          </p:cNvSpPr>
          <p:nvPr/>
        </p:nvSpPr>
        <p:spPr>
          <a:xfrm>
            <a:off x="762000" y="36099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A58B3-6F8F-415E-BBE0-EBE086CFAD33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35CD9-A1FD-4EE0-A67B-C38155B438B5}"/>
              </a:ext>
            </a:extLst>
          </p:cNvPr>
          <p:cNvSpPr>
            <a:spLocks noGrp="1"/>
          </p:cNvSpPr>
          <p:nvPr/>
        </p:nvSpPr>
        <p:spPr>
          <a:xfrm>
            <a:off x="1409700" y="3619500"/>
            <a:ext cx="8343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Staging database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BE3786-D540-4570-A419-FA5A61B8148C}"/>
              </a:ext>
            </a:extLst>
          </p:cNvPr>
          <p:cNvSpPr>
            <a:spLocks noGrp="1"/>
          </p:cNvSpPr>
          <p:nvPr/>
        </p:nvSpPr>
        <p:spPr>
          <a:xfrm>
            <a:off x="1409700" y="3924300"/>
            <a:ext cx="61722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Migration Cockpit’s database option expects third-party tools to write directly to the remote HANA staging database.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6F46A1-5898-4BAE-BEA4-3823445579A9}"/>
              </a:ext>
            </a:extLst>
          </p:cNvPr>
          <p:cNvSpPr>
            <a:spLocks noGrp="1"/>
          </p:cNvSpPr>
          <p:nvPr/>
        </p:nvSpPr>
        <p:spPr>
          <a:xfrm>
            <a:off x="762000" y="44481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97B00C-7EA5-4B6D-946F-100E7AFF3CBB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0A1B2-70C6-4E00-8393-8E611DBE7E68}"/>
              </a:ext>
            </a:extLst>
          </p:cNvPr>
          <p:cNvSpPr>
            <a:spLocks noGrp="1"/>
          </p:cNvSpPr>
          <p:nvPr/>
        </p:nvSpPr>
        <p:spPr>
          <a:xfrm>
            <a:off x="1409700" y="4457700"/>
            <a:ext cx="8343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Operational tuning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670F0D-B974-4815-BF05-D1E3AC0BCFBD}"/>
              </a:ext>
            </a:extLst>
          </p:cNvPr>
          <p:cNvSpPr>
            <a:spLocks noGrp="1"/>
          </p:cNvSpPr>
          <p:nvPr/>
        </p:nvSpPr>
        <p:spPr>
          <a:xfrm>
            <a:off x="1409700" y="4762500"/>
            <a:ext cx="64960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ODBC connection properties support host/port, schema, pooling, timeout, and extended HANA properties.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275EAA-27A4-4246-A570-DDCDA61B6EDD}"/>
              </a:ext>
            </a:extLst>
          </p:cNvPr>
          <p:cNvSpPr>
            <a:spLocks noGrp="1"/>
          </p:cNvSpPr>
          <p:nvPr/>
        </p:nvSpPr>
        <p:spPr>
          <a:xfrm>
            <a:off x="10170795" y="1933575"/>
            <a:ext cx="7355205" cy="590550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FE13C6-C66B-4382-BDD7-407FB305D9DD}"/>
              </a:ext>
            </a:extLst>
          </p:cNvPr>
          <p:cNvSpPr>
            <a:spLocks noGrp="1"/>
          </p:cNvSpPr>
          <p:nvPr/>
        </p:nvSpPr>
        <p:spPr>
          <a:xfrm>
            <a:off x="10515600" y="2266950"/>
            <a:ext cx="6667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Important nuance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05794A-BAFA-4230-AC5B-1D4CFD47F916}"/>
              </a:ext>
            </a:extLst>
          </p:cNvPr>
          <p:cNvSpPr>
            <a:spLocks noGrp="1"/>
          </p:cNvSpPr>
          <p:nvPr/>
        </p:nvSpPr>
        <p:spPr>
          <a:xfrm>
            <a:off x="10515600" y="2762250"/>
            <a:ext cx="666750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D8E8F2"/>
                </a:solidFill>
              </a:defRPr>
            </a:pPr>
            <a:r>
              <a:rPr sz="1875">
                <a:solidFill>
                  <a:srgbClr val="D8E8F2"/>
                </a:solidFill>
              </a:rPr>
              <a:t>Syniti also supports a HANA .NET provider, and the HANA page lists it as recommended. ODBC becomes the required design choice when the chosen final-load tooling, driver standard, or bulk-insert requirement is based on the SAP HANA ODBC Driver.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125C03-9B89-4C6B-B949-F3ED297746D8}"/>
              </a:ext>
            </a:extLst>
          </p:cNvPr>
          <p:cNvSpPr>
            <a:spLocks noGrp="1"/>
          </p:cNvSpPr>
          <p:nvPr/>
        </p:nvSpPr>
        <p:spPr>
          <a:xfrm>
            <a:off x="10515600" y="3886200"/>
            <a:ext cx="6667500" cy="19050"/>
          </a:xfrm>
          <a:prstGeom prst="rect">
            <a:avLst/>
          </a:prstGeom>
          <a:solidFill>
            <a:srgbClr val="496B84"/>
          </a:solidFill>
          <a:ln w="0">
            <a:solidFill>
              <a:srgbClr val="49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EBA488-35EC-4341-8A82-3E94504525FC}"/>
              </a:ext>
            </a:extLst>
          </p:cNvPr>
          <p:cNvSpPr>
            <a:spLocks noGrp="1"/>
          </p:cNvSpPr>
          <p:nvPr/>
        </p:nvSpPr>
        <p:spPr>
          <a:xfrm>
            <a:off x="10515600" y="4076700"/>
            <a:ext cx="6667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BDE8E9"/>
                </a:solidFill>
              </a:defRPr>
            </a:pPr>
            <a:r>
              <a:rPr sz="1875" b="1">
                <a:solidFill>
                  <a:srgbClr val="BDE8E9"/>
                </a:solidFill>
              </a:rPr>
              <a:t>Architectural principle: make the provider choice explicit in the cutover design, then secure and monitor it like any other production integration.</a:t>
            </a:r>
          </a:p>
        </p:txBody>
      </p:sp>
      <p:sp>
        <p:nvSpPr>
          <p:cNvPr id="26" name="source-rail">
            <a:extLst>
              <a:ext uri="{FF2B5EF4-FFF2-40B4-BE49-F238E27FC236}">
                <a16:creationId xmlns:a16="http://schemas.microsoft.com/office/drawing/2014/main" id="{50F868C7-60DF-40AD-BD3E-EC94B3D767AC}"/>
              </a:ext>
            </a:extLst>
          </p:cNvPr>
          <p:cNvSpPr>
            <a:spLocks noGrp="1"/>
          </p:cNvSpPr>
          <p:nvPr/>
        </p:nvSpPr>
        <p:spPr>
          <a:xfrm>
            <a:off x="762000" y="813435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87106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-panel">
            <a:extLst>
              <a:ext uri="{FF2B5EF4-FFF2-40B4-BE49-F238E27FC236}">
                <a16:creationId xmlns:a16="http://schemas.microsoft.com/office/drawing/2014/main" id="{16DA729C-840A-4D4A-9E22-0F6D154AFA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40ABEAC-7E56-423F-B0AA-06FD74EAC913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ODBC and .NET are provider choices; the final-load contract is HANA staging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A650230-6658-4D39-963D-3CD8BEE34470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619250" cy="47625"/>
          </a:xfrm>
          <a:prstGeom prst="rect">
            <a:avLst/>
          </a:prstGeom>
          <a:solidFill>
            <a:srgbClr val="0B7C86"/>
          </a:solidFill>
          <a:ln w="0">
            <a:solidFill>
              <a:srgbClr val="0B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A01CD593-1E35-4210-B9D6-78FE6A35F122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89344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Use the connection type that matches the Syniti component and performance/security requirement.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E01D12-0D60-4307-9260-FAF3D4AB7ABC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5435600" cy="5810250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pill-SAP HANA ODBC">
            <a:extLst>
              <a:ext uri="{FF2B5EF4-FFF2-40B4-BE49-F238E27FC236}">
                <a16:creationId xmlns:a16="http://schemas.microsoft.com/office/drawing/2014/main" id="{A64D4681-AFF9-4201-B9E0-49A45051C1E8}"/>
              </a:ext>
            </a:extLst>
          </p:cNvPr>
          <p:cNvSpPr>
            <a:spLocks noGrp="1"/>
          </p:cNvSpPr>
          <p:nvPr/>
        </p:nvSpPr>
        <p:spPr>
          <a:xfrm>
            <a:off x="1028700" y="2200275"/>
            <a:ext cx="1534478" cy="419100"/>
          </a:xfrm>
          <a:prstGeom prst="roundRect">
            <a:avLst>
              <a:gd name="adj" fmla="val 50000"/>
            </a:avLst>
          </a:prstGeom>
          <a:solidFill>
            <a:srgbClr val="20A4F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pill-text-SAP HANA ODBC">
            <a:extLst>
              <a:ext uri="{FF2B5EF4-FFF2-40B4-BE49-F238E27FC236}">
                <a16:creationId xmlns:a16="http://schemas.microsoft.com/office/drawing/2014/main" id="{CF247B9B-9DF4-4B6C-85A3-8C4812511A7C}"/>
              </a:ext>
            </a:extLst>
          </p:cNvPr>
          <p:cNvSpPr>
            <a:spLocks noGrp="1"/>
          </p:cNvSpPr>
          <p:nvPr/>
        </p:nvSpPr>
        <p:spPr>
          <a:xfrm>
            <a:off x="1200150" y="2286000"/>
            <a:ext cx="1200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SAP HANA ODBC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440F5-9F6F-40EF-A5A6-BD7CC83BF47C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48958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Best fit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A9F1E3-8F00-4EEF-9399-8A43A2B85024}"/>
              </a:ext>
            </a:extLst>
          </p:cNvPr>
          <p:cNvSpPr>
            <a:spLocks noGrp="1"/>
          </p:cNvSpPr>
          <p:nvPr/>
        </p:nvSpPr>
        <p:spPr>
          <a:xfrm>
            <a:off x="1028700" y="3200400"/>
            <a:ext cx="48958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364454"/>
                </a:solidFill>
              </a:defRPr>
            </a:pPr>
            <a:r>
              <a:rPr sz="1650">
                <a:solidFill>
                  <a:srgbClr val="364454"/>
                </a:solidFill>
              </a:rPr>
              <a:t>High-volume refresh / target inserts where the Replicate HANA target uses ODBC bulk insert or where enterprise standards require ODBC DSNs/drivers.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202929-10D8-4364-948E-7BFB5A0678FC}"/>
              </a:ext>
            </a:extLst>
          </p:cNvPr>
          <p:cNvSpPr>
            <a:spLocks noGrp="1"/>
          </p:cNvSpPr>
          <p:nvPr/>
        </p:nvSpPr>
        <p:spPr>
          <a:xfrm>
            <a:off x="1028700" y="4000500"/>
            <a:ext cx="4895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75C64"/>
                </a:solidFill>
              </a:defRPr>
            </a:pPr>
            <a:r>
              <a:rPr sz="1575" b="1">
                <a:solidFill>
                  <a:srgbClr val="075C64"/>
                </a:solidFill>
              </a:rPr>
              <a:t>Security focus: TLS, DSN hardening, technical-user privilege scope, block-size governance.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E2180F-7064-4373-BFB9-1914F4A0E0B5}"/>
              </a:ext>
            </a:extLst>
          </p:cNvPr>
          <p:cNvSpPr>
            <a:spLocks noGrp="1"/>
          </p:cNvSpPr>
          <p:nvPr/>
        </p:nvSpPr>
        <p:spPr>
          <a:xfrm>
            <a:off x="6426200" y="1933575"/>
            <a:ext cx="5435600" cy="5810250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pill-SAP HANA .NET">
            <a:extLst>
              <a:ext uri="{FF2B5EF4-FFF2-40B4-BE49-F238E27FC236}">
                <a16:creationId xmlns:a16="http://schemas.microsoft.com/office/drawing/2014/main" id="{46D3FCE2-350D-4EDD-BC6D-BEA5818417C0}"/>
              </a:ext>
            </a:extLst>
          </p:cNvPr>
          <p:cNvSpPr>
            <a:spLocks noGrp="1"/>
          </p:cNvSpPr>
          <p:nvPr/>
        </p:nvSpPr>
        <p:spPr>
          <a:xfrm>
            <a:off x="6692900" y="2200275"/>
            <a:ext cx="1450848" cy="419100"/>
          </a:xfrm>
          <a:prstGeom prst="roundRect">
            <a:avLst>
              <a:gd name="adj" fmla="val 50000"/>
            </a:avLst>
          </a:prstGeom>
          <a:solidFill>
            <a:srgbClr val="0A6ED1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pill-text-SAP HANA .NET">
            <a:extLst>
              <a:ext uri="{FF2B5EF4-FFF2-40B4-BE49-F238E27FC236}">
                <a16:creationId xmlns:a16="http://schemas.microsoft.com/office/drawing/2014/main" id="{E60767AE-F54E-48FF-B7B3-82916C667028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104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SAP HANA .NET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B314EE-F0DD-4698-9EC0-6D5B4A0F4BAB}"/>
              </a:ext>
            </a:extLst>
          </p:cNvPr>
          <p:cNvSpPr>
            <a:spLocks noGrp="1"/>
          </p:cNvSpPr>
          <p:nvPr/>
        </p:nvSpPr>
        <p:spPr>
          <a:xfrm>
            <a:off x="6686550" y="2800350"/>
            <a:ext cx="48958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Best fit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11672-84E3-4DA9-9777-4601A90FAB92}"/>
              </a:ext>
            </a:extLst>
          </p:cNvPr>
          <p:cNvSpPr>
            <a:spLocks noGrp="1"/>
          </p:cNvSpPr>
          <p:nvPr/>
        </p:nvSpPr>
        <p:spPr>
          <a:xfrm>
            <a:off x="6686550" y="3200400"/>
            <a:ext cx="48958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364454"/>
                </a:solidFill>
              </a:defRPr>
            </a:pPr>
            <a:r>
              <a:rPr sz="1650">
                <a:solidFill>
                  <a:srgbClr val="364454"/>
                </a:solidFill>
              </a:rPr>
              <a:t>Replicate configurations where the .NET provider is selected and native provider behavior is sufficient for refresh loads.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A55EDD-7BB7-4C30-8EBD-98231A27ADA9}"/>
              </a:ext>
            </a:extLst>
          </p:cNvPr>
          <p:cNvSpPr>
            <a:spLocks noGrp="1"/>
          </p:cNvSpPr>
          <p:nvPr/>
        </p:nvSpPr>
        <p:spPr>
          <a:xfrm>
            <a:off x="6686550" y="4000500"/>
            <a:ext cx="4895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A6ED1"/>
                </a:solidFill>
              </a:defRPr>
            </a:pPr>
            <a:r>
              <a:rPr sz="1575" b="1">
                <a:solidFill>
                  <a:srgbClr val="0A6ED1"/>
                </a:solidFill>
              </a:rPr>
              <a:t>Security focus: same TLS and privilege controls; avoid password persistence in connection objects.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13F419-C4F7-466B-8CB2-76DA8B713263}"/>
              </a:ext>
            </a:extLst>
          </p:cNvPr>
          <p:cNvSpPr>
            <a:spLocks noGrp="1"/>
          </p:cNvSpPr>
          <p:nvPr/>
        </p:nvSpPr>
        <p:spPr>
          <a:xfrm>
            <a:off x="12090400" y="1933575"/>
            <a:ext cx="5435600" cy="5810250"/>
          </a:xfrm>
          <a:prstGeom prst="roundRect">
            <a:avLst>
              <a:gd name="adj" fmla="val 1402"/>
            </a:avLst>
          </a:prstGeom>
          <a:solidFill>
            <a:srgbClr val="FFF8E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pill-Decision rule">
            <a:extLst>
              <a:ext uri="{FF2B5EF4-FFF2-40B4-BE49-F238E27FC236}">
                <a16:creationId xmlns:a16="http://schemas.microsoft.com/office/drawing/2014/main" id="{FB23025B-AF2B-48CF-8F90-E5E514410417}"/>
              </a:ext>
            </a:extLst>
          </p:cNvPr>
          <p:cNvSpPr>
            <a:spLocks noGrp="1"/>
          </p:cNvSpPr>
          <p:nvPr/>
        </p:nvSpPr>
        <p:spPr>
          <a:xfrm>
            <a:off x="12357100" y="2200275"/>
            <a:ext cx="1265968" cy="419100"/>
          </a:xfrm>
          <a:prstGeom prst="roundRect">
            <a:avLst>
              <a:gd name="adj" fmla="val 50000"/>
            </a:avLst>
          </a:prstGeom>
          <a:solidFill>
            <a:srgbClr val="D89922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pill-text-Decision rule">
            <a:extLst>
              <a:ext uri="{FF2B5EF4-FFF2-40B4-BE49-F238E27FC236}">
                <a16:creationId xmlns:a16="http://schemas.microsoft.com/office/drawing/2014/main" id="{2BF8BCFA-8C40-4257-B5A3-638C0444E365}"/>
              </a:ext>
            </a:extLst>
          </p:cNvPr>
          <p:cNvSpPr>
            <a:spLocks noGrp="1"/>
          </p:cNvSpPr>
          <p:nvPr/>
        </p:nvSpPr>
        <p:spPr>
          <a:xfrm>
            <a:off x="12534900" y="2286000"/>
            <a:ext cx="914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Decision rule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10AA86-6418-4FBE-9972-331D61CFBB78}"/>
              </a:ext>
            </a:extLst>
          </p:cNvPr>
          <p:cNvSpPr>
            <a:spLocks noGrp="1"/>
          </p:cNvSpPr>
          <p:nvPr/>
        </p:nvSpPr>
        <p:spPr>
          <a:xfrm>
            <a:off x="12363450" y="2800350"/>
            <a:ext cx="4895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Do not debate the driver in isolation.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E8006B-8748-4AA8-8673-7B5928844B7F}"/>
              </a:ext>
            </a:extLst>
          </p:cNvPr>
          <p:cNvSpPr>
            <a:spLocks noGrp="1"/>
          </p:cNvSpPr>
          <p:nvPr/>
        </p:nvSpPr>
        <p:spPr>
          <a:xfrm>
            <a:off x="12363450" y="3238500"/>
            <a:ext cx="48958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364454"/>
                </a:solidFill>
              </a:defRPr>
            </a:pPr>
            <a:r>
              <a:rPr sz="1650">
                <a:solidFill>
                  <a:srgbClr val="364454"/>
                </a:solidFill>
              </a:rPr>
              <a:t>Confirm the load channel, supported component version, SAP HANA target type, expected row volume, network path, and Basis security requirements. Then document the accepted provider and controls in the runbook.</a:t>
            </a:r>
          </a:p>
        </p:txBody>
      </p:sp>
      <p:sp>
        <p:nvSpPr>
          <p:cNvPr id="22" name="source-rail">
            <a:extLst>
              <a:ext uri="{FF2B5EF4-FFF2-40B4-BE49-F238E27FC236}">
                <a16:creationId xmlns:a16="http://schemas.microsoft.com/office/drawing/2014/main" id="{A2BD5005-E306-4EB0-A78C-0CEFC6964526}"/>
              </a:ext>
            </a:extLst>
          </p:cNvPr>
          <p:cNvSpPr>
            <a:spLocks noGrp="1"/>
          </p:cNvSpPr>
          <p:nvPr/>
        </p:nvSpPr>
        <p:spPr>
          <a:xfrm>
            <a:off x="762000" y="803910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133783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g-panel">
            <a:extLst>
              <a:ext uri="{FF2B5EF4-FFF2-40B4-BE49-F238E27FC236}">
                <a16:creationId xmlns:a16="http://schemas.microsoft.com/office/drawing/2014/main" id="{F135EDF4-815B-4EB3-900F-5793D31C15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50EBAED-C7A8-445B-BA9A-2221473624E0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Security architecture for the HANA staging bridge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52A6C31B-B64E-4F48-8EF3-BC3B7BF71F2F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619250" cy="47625"/>
          </a:xfrm>
          <a:prstGeom prst="rect">
            <a:avLst/>
          </a:prstGeom>
          <a:solidFill>
            <a:srgbClr val="B84A4A"/>
          </a:solidFill>
          <a:ln w="0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7D392473-3D5F-4DF2-981A-4F2DC3A24FBF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72580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Separate data movement, control plane, and SAP application load responsibilities.</a:t>
            </a:r>
          </a:p>
        </p:txBody>
      </p:sp>
      <p:sp>
        <p:nvSpPr>
          <p:cNvPr id="5" name="box-Migration build zone">
            <a:extLst>
              <a:ext uri="{FF2B5EF4-FFF2-40B4-BE49-F238E27FC236}">
                <a16:creationId xmlns:a16="http://schemas.microsoft.com/office/drawing/2014/main" id="{47B3E905-9FA2-4110-8C45-E47DAD0C5B22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50038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ox-title-Migration build zone">
            <a:extLst>
              <a:ext uri="{FF2B5EF4-FFF2-40B4-BE49-F238E27FC236}">
                <a16:creationId xmlns:a16="http://schemas.microsoft.com/office/drawing/2014/main" id="{F5CD2375-DD7A-48BE-A0C6-C05246D6C49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4514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Migration build zone</a:t>
            </a:r>
          </a:p>
        </p:txBody>
      </p:sp>
      <p:sp>
        <p:nvSpPr>
          <p:cNvPr id="7" name="box-sub-Migration build zone">
            <a:extLst>
              <a:ext uri="{FF2B5EF4-FFF2-40B4-BE49-F238E27FC236}">
                <a16:creationId xmlns:a16="http://schemas.microsoft.com/office/drawing/2014/main" id="{280A32A1-56CC-4E73-AC7F-1A9DD8C9B842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4514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Syniti Migrate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Working DB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Data Services / Replicate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1C435AA2-0D27-400E-A985-0A62F147D23C}"/>
              </a:ext>
            </a:extLst>
          </p:cNvPr>
          <p:cNvSpPr>
            <a:spLocks noGrp="1"/>
          </p:cNvSpPr>
          <p:nvPr/>
        </p:nvSpPr>
        <p:spPr>
          <a:xfrm>
            <a:off x="5981700" y="188595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B84A4A"/>
                </a:solidFill>
              </a:defRPr>
            </a:pPr>
            <a:r>
              <a:rPr sz="2625" b="1">
                <a:solidFill>
                  <a:srgbClr val="B84A4A"/>
                </a:solidFill>
              </a:rPr>
              <a:t>-&gt;</a:t>
            </a:r>
          </a:p>
        </p:txBody>
      </p:sp>
      <p:sp>
        <p:nvSpPr>
          <p:cNvPr id="9" name="box-SAP HANA staging zone">
            <a:extLst>
              <a:ext uri="{FF2B5EF4-FFF2-40B4-BE49-F238E27FC236}">
                <a16:creationId xmlns:a16="http://schemas.microsoft.com/office/drawing/2014/main" id="{8BEED7C0-3A9D-44E1-AC4D-6F2DF04C86E5}"/>
              </a:ext>
            </a:extLst>
          </p:cNvPr>
          <p:cNvSpPr>
            <a:spLocks noGrp="1"/>
          </p:cNvSpPr>
          <p:nvPr/>
        </p:nvSpPr>
        <p:spPr>
          <a:xfrm>
            <a:off x="6642100" y="1876425"/>
            <a:ext cx="5003800" cy="4953000"/>
          </a:xfrm>
          <a:prstGeom prst="roundRect">
            <a:avLst>
              <a:gd name="adj" fmla="val 1538"/>
            </a:avLst>
          </a:prstGeom>
          <a:solidFill>
            <a:srgbClr val="F1FAFA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box-title-SAP HANA staging zone">
            <a:extLst>
              <a:ext uri="{FF2B5EF4-FFF2-40B4-BE49-F238E27FC236}">
                <a16:creationId xmlns:a16="http://schemas.microsoft.com/office/drawing/2014/main" id="{CCB4C9E3-7B61-4C66-9CCD-759E653AF4EB}"/>
              </a:ext>
            </a:extLst>
          </p:cNvPr>
          <p:cNvSpPr>
            <a:spLocks noGrp="1"/>
          </p:cNvSpPr>
          <p:nvPr/>
        </p:nvSpPr>
        <p:spPr>
          <a:xfrm>
            <a:off x="6896100" y="2095500"/>
            <a:ext cx="4514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HANA staging zone</a:t>
            </a:r>
          </a:p>
        </p:txBody>
      </p:sp>
      <p:sp>
        <p:nvSpPr>
          <p:cNvPr id="11" name="box-sub-SAP HANA staging zone">
            <a:extLst>
              <a:ext uri="{FF2B5EF4-FFF2-40B4-BE49-F238E27FC236}">
                <a16:creationId xmlns:a16="http://schemas.microsoft.com/office/drawing/2014/main" id="{D8D1EBF5-22CD-455A-A856-43DC6500E13A}"/>
              </a:ext>
            </a:extLst>
          </p:cNvPr>
          <p:cNvSpPr>
            <a:spLocks noGrp="1"/>
          </p:cNvSpPr>
          <p:nvPr/>
        </p:nvSpPr>
        <p:spPr>
          <a:xfrm>
            <a:off x="6896100" y="2419350"/>
            <a:ext cx="4514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ODBC/.NET over TLS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Schema-scoped technical user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Migration Cockpit staging tables</a:t>
            </a:r>
          </a:p>
        </p:txBody>
      </p:sp>
      <p:sp>
        <p:nvSpPr>
          <p:cNvPr id="12" name="arrow">
            <a:extLst>
              <a:ext uri="{FF2B5EF4-FFF2-40B4-BE49-F238E27FC236}">
                <a16:creationId xmlns:a16="http://schemas.microsoft.com/office/drawing/2014/main" id="{C8FB98B2-E3CB-4522-8806-2B73F9F5B6FE}"/>
              </a:ext>
            </a:extLst>
          </p:cNvPr>
          <p:cNvSpPr>
            <a:spLocks noGrp="1"/>
          </p:cNvSpPr>
          <p:nvPr/>
        </p:nvSpPr>
        <p:spPr>
          <a:xfrm>
            <a:off x="11849100" y="1885950"/>
            <a:ext cx="457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625" b="1">
                <a:solidFill>
                  <a:srgbClr val="B84A4A"/>
                </a:solidFill>
              </a:defRPr>
            </a:pPr>
            <a:r>
              <a:rPr sz="2625" b="1">
                <a:solidFill>
                  <a:srgbClr val="B84A4A"/>
                </a:solidFill>
              </a:rPr>
              <a:t>-&gt;</a:t>
            </a:r>
          </a:p>
        </p:txBody>
      </p:sp>
      <p:sp>
        <p:nvSpPr>
          <p:cNvPr id="13" name="box-SAP application zone">
            <a:extLst>
              <a:ext uri="{FF2B5EF4-FFF2-40B4-BE49-F238E27FC236}">
                <a16:creationId xmlns:a16="http://schemas.microsoft.com/office/drawing/2014/main" id="{0E8714F4-2078-41FA-A943-D2883CD197BA}"/>
              </a:ext>
            </a:extLst>
          </p:cNvPr>
          <p:cNvSpPr>
            <a:spLocks noGrp="1"/>
          </p:cNvSpPr>
          <p:nvPr/>
        </p:nvSpPr>
        <p:spPr>
          <a:xfrm>
            <a:off x="12522200" y="1876425"/>
            <a:ext cx="5003800" cy="4953000"/>
          </a:xfrm>
          <a:prstGeom prst="roundRect">
            <a:avLst>
              <a:gd name="adj" fmla="val 1538"/>
            </a:avLst>
          </a:prstGeom>
          <a:solidFill>
            <a:srgbClr val="EFF7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box-title-SAP application zone">
            <a:extLst>
              <a:ext uri="{FF2B5EF4-FFF2-40B4-BE49-F238E27FC236}">
                <a16:creationId xmlns:a16="http://schemas.microsoft.com/office/drawing/2014/main" id="{43C8BCEC-26B6-4F07-821D-12EADB004880}"/>
              </a:ext>
            </a:extLst>
          </p:cNvPr>
          <p:cNvSpPr>
            <a:spLocks noGrp="1"/>
          </p:cNvSpPr>
          <p:nvPr/>
        </p:nvSpPr>
        <p:spPr>
          <a:xfrm>
            <a:off x="12763500" y="2095500"/>
            <a:ext cx="4514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SAP application zone</a:t>
            </a:r>
          </a:p>
        </p:txBody>
      </p:sp>
      <p:sp>
        <p:nvSpPr>
          <p:cNvPr id="15" name="box-sub-SAP application zone">
            <a:extLst>
              <a:ext uri="{FF2B5EF4-FFF2-40B4-BE49-F238E27FC236}">
                <a16:creationId xmlns:a16="http://schemas.microsoft.com/office/drawing/2014/main" id="{1F4CCED1-9F1F-42A2-A6EE-CB9993B79715}"/>
              </a:ext>
            </a:extLst>
          </p:cNvPr>
          <p:cNvSpPr>
            <a:spLocks noGrp="1"/>
          </p:cNvSpPr>
          <p:nvPr/>
        </p:nvSpPr>
        <p:spPr>
          <a:xfrm>
            <a:off x="12763500" y="2419350"/>
            <a:ext cx="4514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Migration Cockpit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Transfer Data</a:t>
            </a:r>
          </a:p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S/4HANA business objects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497F07-5343-4327-BCE2-120A0D25D5B1}"/>
              </a:ext>
            </a:extLst>
          </p:cNvPr>
          <p:cNvSpPr>
            <a:spLocks noGrp="1"/>
          </p:cNvSpPr>
          <p:nvPr/>
        </p:nvSpPr>
        <p:spPr>
          <a:xfrm>
            <a:off x="762000" y="7058025"/>
            <a:ext cx="16764000" cy="1219200"/>
          </a:xfrm>
          <a:prstGeom prst="roundRect">
            <a:avLst>
              <a:gd name="adj" fmla="val 6250"/>
            </a:avLst>
          </a:prstGeom>
          <a:solidFill>
            <a:srgbClr val="FFF4F4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9AF68E-7019-4F9C-80BC-FC5F70580586}"/>
              </a:ext>
            </a:extLst>
          </p:cNvPr>
          <p:cNvSpPr>
            <a:spLocks noGrp="1"/>
          </p:cNvSpPr>
          <p:nvPr/>
        </p:nvSpPr>
        <p:spPr>
          <a:xfrm>
            <a:off x="1028700" y="7277100"/>
            <a:ext cx="162306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Controls: private route / firewall allowlist / certificate trust / no broad schema grants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327704-0B3A-48F7-8381-D70AF30BE49B}"/>
              </a:ext>
            </a:extLst>
          </p:cNvPr>
          <p:cNvSpPr>
            <a:spLocks noGrp="1"/>
          </p:cNvSpPr>
          <p:nvPr/>
        </p:nvSpPr>
        <p:spPr>
          <a:xfrm>
            <a:off x="1028700" y="7600950"/>
            <a:ext cx="1623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364454"/>
                </a:solidFill>
              </a:defRPr>
            </a:pPr>
            <a:r>
              <a:rPr sz="1500">
                <a:solidFill>
                  <a:srgbClr val="364454"/>
                </a:solidFill>
              </a:rPr>
              <a:t>Data-path risk is credentials and data in transit. Application-path risk is bypassing SAP posting logic, so final transfer stays in Migration Cockpit.</a:t>
            </a:r>
          </a:p>
        </p:txBody>
      </p:sp>
      <p:sp>
        <p:nvSpPr>
          <p:cNvPr id="19" name="source-rail">
            <a:extLst>
              <a:ext uri="{FF2B5EF4-FFF2-40B4-BE49-F238E27FC236}">
                <a16:creationId xmlns:a16="http://schemas.microsoft.com/office/drawing/2014/main" id="{68E8D632-129E-439F-AD4A-FF557391C0D8}"/>
              </a:ext>
            </a:extLst>
          </p:cNvPr>
          <p:cNvSpPr>
            <a:spLocks noGrp="1"/>
          </p:cNvSpPr>
          <p:nvPr/>
        </p:nvSpPr>
        <p:spPr>
          <a:xfrm>
            <a:off x="762000" y="851535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Security basis: Syniti HANA SSL guidance; Replicate client/server authentication guidance; SAP SNC for RFC paths when applicable.</a:t>
            </a:r>
          </a:p>
        </p:txBody>
      </p:sp>
    </p:spTree>
    <p:extLst>
      <p:ext uri="{BB962C8B-B14F-4D97-AF65-F5344CB8AC3E}">
        <p14:creationId xmlns:p14="http://schemas.microsoft.com/office/powerpoint/2010/main" val="52624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-panel">
            <a:extLst>
              <a:ext uri="{FF2B5EF4-FFF2-40B4-BE49-F238E27FC236}">
                <a16:creationId xmlns:a16="http://schemas.microsoft.com/office/drawing/2014/main" id="{8E3ECECF-E835-4D97-801A-6D340F4F07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48A63DF-E8C9-4CA1-B4F7-3972E5357DB0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Security issues and mitigations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7510EE1-3F01-482E-872C-F6507AA6AC59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619250" cy="47625"/>
          </a:xfrm>
          <a:prstGeom prst="rect">
            <a:avLst/>
          </a:prstGeom>
          <a:solidFill>
            <a:srgbClr val="B84A4A"/>
          </a:solidFill>
          <a:ln w="0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10E5D40E-0548-44D2-AEA1-F66B39E9C69F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296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The ODBC connection can be approved when every major risk has an owner and a compensating control.</a:t>
            </a:r>
          </a:p>
        </p:txBody>
      </p:sp>
      <p:sp>
        <p:nvSpPr>
          <p:cNvPr id="5" name="box-Credential exposure">
            <a:extLst>
              <a:ext uri="{FF2B5EF4-FFF2-40B4-BE49-F238E27FC236}">
                <a16:creationId xmlns:a16="http://schemas.microsoft.com/office/drawing/2014/main" id="{556FADA3-AC51-4D34-96AF-14C45EB4666D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ox-title-Credential exposure">
            <a:extLst>
              <a:ext uri="{FF2B5EF4-FFF2-40B4-BE49-F238E27FC236}">
                <a16:creationId xmlns:a16="http://schemas.microsoft.com/office/drawing/2014/main" id="{E4F59411-3F41-4E93-BFBC-DBD3918AE58E}"/>
              </a:ext>
            </a:extLst>
          </p:cNvPr>
          <p:cNvSpPr>
            <a:spLocks noGrp="1"/>
          </p:cNvSpPr>
          <p:nvPr/>
        </p:nvSpPr>
        <p:spPr>
          <a:xfrm>
            <a:off x="1009650" y="192405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Credential exposure</a:t>
            </a:r>
          </a:p>
        </p:txBody>
      </p:sp>
      <p:sp>
        <p:nvSpPr>
          <p:cNvPr id="7" name="box-sub-Credential exposure">
            <a:extLst>
              <a:ext uri="{FF2B5EF4-FFF2-40B4-BE49-F238E27FC236}">
                <a16:creationId xmlns:a16="http://schemas.microsoft.com/office/drawing/2014/main" id="{0F2AF2DE-3A3E-4297-874B-305785019C88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Dedicated technical user, password rotation/vaulting, no shared personal accounts, Persist Security Info = false.</a:t>
            </a:r>
          </a:p>
        </p:txBody>
      </p:sp>
      <p:sp>
        <p:nvSpPr>
          <p:cNvPr id="8" name="box-Unencrypted transit">
            <a:extLst>
              <a:ext uri="{FF2B5EF4-FFF2-40B4-BE49-F238E27FC236}">
                <a16:creationId xmlns:a16="http://schemas.microsoft.com/office/drawing/2014/main" id="{A8EF80F8-BB93-4EF1-9834-8E3375524296}"/>
              </a:ext>
            </a:extLst>
          </p:cNvPr>
          <p:cNvSpPr>
            <a:spLocks noGrp="1"/>
          </p:cNvSpPr>
          <p:nvPr/>
        </p:nvSpPr>
        <p:spPr>
          <a:xfrm>
            <a:off x="9258300" y="17145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box-title-Unencrypted transit">
            <a:extLst>
              <a:ext uri="{FF2B5EF4-FFF2-40B4-BE49-F238E27FC236}">
                <a16:creationId xmlns:a16="http://schemas.microsoft.com/office/drawing/2014/main" id="{B48EC766-2922-455D-990A-D780E0CFD058}"/>
              </a:ext>
            </a:extLst>
          </p:cNvPr>
          <p:cNvSpPr>
            <a:spLocks noGrp="1"/>
          </p:cNvSpPr>
          <p:nvPr/>
        </p:nvSpPr>
        <p:spPr>
          <a:xfrm>
            <a:off x="9505950" y="192405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Unencrypted transit</a:t>
            </a:r>
          </a:p>
        </p:txBody>
      </p:sp>
      <p:sp>
        <p:nvSpPr>
          <p:cNvPr id="10" name="box-sub-Unencrypted transit">
            <a:extLst>
              <a:ext uri="{FF2B5EF4-FFF2-40B4-BE49-F238E27FC236}">
                <a16:creationId xmlns:a16="http://schemas.microsoft.com/office/drawing/2014/main" id="{442E1092-356F-44AB-92FF-00A68D2AD296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Enable SAP HANA SSL/TLS; use CA-signed certificates for production; maintain HANA PSE/trust chain.</a:t>
            </a:r>
          </a:p>
        </p:txBody>
      </p:sp>
      <p:sp>
        <p:nvSpPr>
          <p:cNvPr id="11" name="box-Excessive database privilege">
            <a:extLst>
              <a:ext uri="{FF2B5EF4-FFF2-40B4-BE49-F238E27FC236}">
                <a16:creationId xmlns:a16="http://schemas.microsoft.com/office/drawing/2014/main" id="{8402EF47-06F0-4FE1-962A-1D287C18DD10}"/>
              </a:ext>
            </a:extLst>
          </p:cNvPr>
          <p:cNvSpPr>
            <a:spLocks noGrp="1"/>
          </p:cNvSpPr>
          <p:nvPr/>
        </p:nvSpPr>
        <p:spPr>
          <a:xfrm>
            <a:off x="762000" y="38354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box-title-Excessive database privilege">
            <a:extLst>
              <a:ext uri="{FF2B5EF4-FFF2-40B4-BE49-F238E27FC236}">
                <a16:creationId xmlns:a16="http://schemas.microsoft.com/office/drawing/2014/main" id="{7CDC7F5D-D8A0-4BF6-BAF4-775100D71622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Excessive database privilege</a:t>
            </a:r>
          </a:p>
        </p:txBody>
      </p:sp>
      <p:sp>
        <p:nvSpPr>
          <p:cNvPr id="13" name="box-sub-Excessive database privilege">
            <a:extLst>
              <a:ext uri="{FF2B5EF4-FFF2-40B4-BE49-F238E27FC236}">
                <a16:creationId xmlns:a16="http://schemas.microsoft.com/office/drawing/2014/main" id="{D0D07635-0138-465F-B1F9-EBF79AB918E4}"/>
              </a:ext>
            </a:extLst>
          </p:cNvPr>
          <p:cNvSpPr>
            <a:spLocks noGrp="1"/>
          </p:cNvSpPr>
          <p:nvPr/>
        </p:nvSpPr>
        <p:spPr>
          <a:xfrm>
            <a:off x="1009650" y="4381500"/>
            <a:ext cx="777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CONNECT plus only required schema/table operations for staging. Avoid catalog-wide or application-table privileges.</a:t>
            </a:r>
          </a:p>
        </p:txBody>
      </p:sp>
      <p:sp>
        <p:nvSpPr>
          <p:cNvPr id="14" name="box-Network overexposure">
            <a:extLst>
              <a:ext uri="{FF2B5EF4-FFF2-40B4-BE49-F238E27FC236}">
                <a16:creationId xmlns:a16="http://schemas.microsoft.com/office/drawing/2014/main" id="{1F4BBD97-DE14-463F-9F6B-8A6454DEC573}"/>
              </a:ext>
            </a:extLst>
          </p:cNvPr>
          <p:cNvSpPr>
            <a:spLocks noGrp="1"/>
          </p:cNvSpPr>
          <p:nvPr/>
        </p:nvSpPr>
        <p:spPr>
          <a:xfrm>
            <a:off x="9258300" y="38354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box-title-Network overexposure">
            <a:extLst>
              <a:ext uri="{FF2B5EF4-FFF2-40B4-BE49-F238E27FC236}">
                <a16:creationId xmlns:a16="http://schemas.microsoft.com/office/drawing/2014/main" id="{C111542F-AFB1-4FA5-B1F1-6BDDAD2CBDCD}"/>
              </a:ext>
            </a:extLst>
          </p:cNvPr>
          <p:cNvSpPr>
            <a:spLocks noGrp="1"/>
          </p:cNvSpPr>
          <p:nvPr/>
        </p:nvSpPr>
        <p:spPr>
          <a:xfrm>
            <a:off x="9505950" y="403860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Network overexposure</a:t>
            </a:r>
          </a:p>
        </p:txBody>
      </p:sp>
      <p:sp>
        <p:nvSpPr>
          <p:cNvPr id="16" name="box-sub-Network overexposure">
            <a:extLst>
              <a:ext uri="{FF2B5EF4-FFF2-40B4-BE49-F238E27FC236}">
                <a16:creationId xmlns:a16="http://schemas.microsoft.com/office/drawing/2014/main" id="{9D832FEA-3F59-4E91-B350-D680B5701C57}"/>
              </a:ext>
            </a:extLst>
          </p:cNvPr>
          <p:cNvSpPr>
            <a:spLocks noGrp="1"/>
          </p:cNvSpPr>
          <p:nvPr/>
        </p:nvSpPr>
        <p:spPr>
          <a:xfrm>
            <a:off x="9505950" y="438150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Private connectivity, VPN/peering, firewall allowlist to HANA host/port, no public inbound administration route.</a:t>
            </a:r>
          </a:p>
        </p:txBody>
      </p:sp>
      <p:sp>
        <p:nvSpPr>
          <p:cNvPr id="17" name="box-Bulk-load side effects">
            <a:extLst>
              <a:ext uri="{FF2B5EF4-FFF2-40B4-BE49-F238E27FC236}">
                <a16:creationId xmlns:a16="http://schemas.microsoft.com/office/drawing/2014/main" id="{C9D424D5-E8D3-4707-A219-9CFB18839C53}"/>
              </a:ext>
            </a:extLst>
          </p:cNvPr>
          <p:cNvSpPr>
            <a:spLocks noGrp="1"/>
          </p:cNvSpPr>
          <p:nvPr/>
        </p:nvSpPr>
        <p:spPr>
          <a:xfrm>
            <a:off x="762000" y="59563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box-title-Bulk-load side effects">
            <a:extLst>
              <a:ext uri="{FF2B5EF4-FFF2-40B4-BE49-F238E27FC236}">
                <a16:creationId xmlns:a16="http://schemas.microsoft.com/office/drawing/2014/main" id="{5ED689D2-65BA-44DD-AE3A-A1FC4B2F9929}"/>
              </a:ext>
            </a:extLst>
          </p:cNvPr>
          <p:cNvSpPr>
            <a:spLocks noGrp="1"/>
          </p:cNvSpPr>
          <p:nvPr/>
        </p:nvSpPr>
        <p:spPr>
          <a:xfrm>
            <a:off x="1009650" y="617220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Bulk-load side effects</a:t>
            </a:r>
          </a:p>
        </p:txBody>
      </p:sp>
      <p:sp>
        <p:nvSpPr>
          <p:cNvPr id="19" name="box-sub-Bulk-load side effects">
            <a:extLst>
              <a:ext uri="{FF2B5EF4-FFF2-40B4-BE49-F238E27FC236}">
                <a16:creationId xmlns:a16="http://schemas.microsoft.com/office/drawing/2014/main" id="{2C7D4805-C53F-4736-8B87-DD43241141FF}"/>
              </a:ext>
            </a:extLst>
          </p:cNvPr>
          <p:cNvSpPr>
            <a:spLocks noGrp="1"/>
          </p:cNvSpPr>
          <p:nvPr/>
        </p:nvSpPr>
        <p:spPr>
          <a:xfrm>
            <a:off x="1009650" y="6496050"/>
            <a:ext cx="7772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Approve block size, batch commit behavior, and restart strategy; avoid FTP unless on-premises and explicitly secured.</a:t>
            </a:r>
          </a:p>
        </p:txBody>
      </p:sp>
      <p:sp>
        <p:nvSpPr>
          <p:cNvPr id="20" name="box-Weak auditability">
            <a:extLst>
              <a:ext uri="{FF2B5EF4-FFF2-40B4-BE49-F238E27FC236}">
                <a16:creationId xmlns:a16="http://schemas.microsoft.com/office/drawing/2014/main" id="{B3106E2F-EF48-4087-8D7B-3D878737611E}"/>
              </a:ext>
            </a:extLst>
          </p:cNvPr>
          <p:cNvSpPr>
            <a:spLocks noGrp="1"/>
          </p:cNvSpPr>
          <p:nvPr/>
        </p:nvSpPr>
        <p:spPr>
          <a:xfrm>
            <a:off x="9258300" y="5956300"/>
            <a:ext cx="8267700" cy="1949450"/>
          </a:xfrm>
          <a:prstGeom prst="roundRect">
            <a:avLst>
              <a:gd name="adj" fmla="val 3909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box-title-Weak auditability">
            <a:extLst>
              <a:ext uri="{FF2B5EF4-FFF2-40B4-BE49-F238E27FC236}">
                <a16:creationId xmlns:a16="http://schemas.microsoft.com/office/drawing/2014/main" id="{23C7BF33-105F-4BDB-A6D8-25DA098CCE79}"/>
              </a:ext>
            </a:extLst>
          </p:cNvPr>
          <p:cNvSpPr>
            <a:spLocks noGrp="1"/>
          </p:cNvSpPr>
          <p:nvPr/>
        </p:nvSpPr>
        <p:spPr>
          <a:xfrm>
            <a:off x="9505950" y="6172200"/>
            <a:ext cx="7772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Weak auditability</a:t>
            </a:r>
          </a:p>
        </p:txBody>
      </p:sp>
      <p:sp>
        <p:nvSpPr>
          <p:cNvPr id="22" name="box-sub-Weak auditability">
            <a:extLst>
              <a:ext uri="{FF2B5EF4-FFF2-40B4-BE49-F238E27FC236}">
                <a16:creationId xmlns:a16="http://schemas.microsoft.com/office/drawing/2014/main" id="{6C1CC6CA-DB77-4301-8B99-F40588BC73DC}"/>
              </a:ext>
            </a:extLst>
          </p:cNvPr>
          <p:cNvSpPr>
            <a:spLocks noGrp="1"/>
          </p:cNvSpPr>
          <p:nvPr/>
        </p:nvSpPr>
        <p:spPr>
          <a:xfrm>
            <a:off x="9505950" y="64960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Log connection use, job runs, row counts, rejects, SAP transfer outcomes, and sign-offs for each cutover wave.</a:t>
            </a:r>
          </a:p>
        </p:txBody>
      </p:sp>
      <p:sp>
        <p:nvSpPr>
          <p:cNvPr id="23" name="source-rail">
            <a:extLst>
              <a:ext uri="{FF2B5EF4-FFF2-40B4-BE49-F238E27FC236}">
                <a16:creationId xmlns:a16="http://schemas.microsoft.com/office/drawing/2014/main" id="{2515E1A4-B056-46A4-ABEA-A56FD922051E}"/>
              </a:ext>
            </a:extLst>
          </p:cNvPr>
          <p:cNvSpPr>
            <a:spLocks noGrp="1"/>
          </p:cNvSpPr>
          <p:nvPr/>
        </p:nvSpPr>
        <p:spPr>
          <a:xfrm>
            <a:off x="762000" y="819150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15867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g-panel">
            <a:extLst>
              <a:ext uri="{FF2B5EF4-FFF2-40B4-BE49-F238E27FC236}">
                <a16:creationId xmlns:a16="http://schemas.microsoft.com/office/drawing/2014/main" id="{B80FD739-9F63-4646-92CC-7A37506D15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330E34E-0FE9-44E4-ADB0-6445951FECDC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Cutover runbook for final data load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2222941E-6E78-4263-9F72-719025787B5C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619250" cy="47625"/>
          </a:xfrm>
          <a:prstGeom prst="rect">
            <a:avLst/>
          </a:prstGeom>
          <a:solidFill>
            <a:srgbClr val="0B7C86"/>
          </a:solidFill>
          <a:ln w="0">
            <a:solidFill>
              <a:srgbClr val="0B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52424ADD-9D2E-4521-96EA-A961BCD2AFC2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9829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A controlled load sequence keeps the HANA bridge useful without letting it become an uncontrolled back door.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A65B8A-EAC5-48F3-A7EC-C59F2045FAB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3215640" cy="61912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C4DF1-264C-45A0-AFFA-EA56E08360FB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54669-EB7C-47E0-BBC3-4417B199F6B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495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2C5F6-DD48-49F3-93E5-125EA681BE26}"/>
              </a:ext>
            </a:extLst>
          </p:cNvPr>
          <p:cNvSpPr>
            <a:spLocks noGrp="1"/>
          </p:cNvSpPr>
          <p:nvPr/>
        </p:nvSpPr>
        <p:spPr>
          <a:xfrm>
            <a:off x="971550" y="2590800"/>
            <a:ext cx="2800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Prepare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ACBF0-528F-47A6-A05A-5A18BFF0B9D8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2800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Confirm object scope, dependencies, HANA schema, staging tables, certificates and credentials.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207535-0BB2-405D-9A49-4B7485C2193C}"/>
              </a:ext>
            </a:extLst>
          </p:cNvPr>
          <p:cNvSpPr>
            <a:spLocks noGrp="1"/>
          </p:cNvSpPr>
          <p:nvPr/>
        </p:nvSpPr>
        <p:spPr>
          <a:xfrm>
            <a:off x="4149090" y="1714500"/>
            <a:ext cx="3215640" cy="61912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33A085-F0B7-45C5-B96F-E177A78734AE}"/>
              </a:ext>
            </a:extLst>
          </p:cNvPr>
          <p:cNvSpPr>
            <a:spLocks noGrp="1"/>
          </p:cNvSpPr>
          <p:nvPr/>
        </p:nvSpPr>
        <p:spPr>
          <a:xfrm>
            <a:off x="4358640" y="1943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07309D-B205-4513-B0F6-5831DFC5E1E9}"/>
              </a:ext>
            </a:extLst>
          </p:cNvPr>
          <p:cNvSpPr>
            <a:spLocks noGrp="1"/>
          </p:cNvSpPr>
          <p:nvPr/>
        </p:nvSpPr>
        <p:spPr>
          <a:xfrm>
            <a:off x="4362450" y="1943100"/>
            <a:ext cx="495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497FA5-50B0-4869-B485-0FEB87D4A65F}"/>
              </a:ext>
            </a:extLst>
          </p:cNvPr>
          <p:cNvSpPr>
            <a:spLocks noGrp="1"/>
          </p:cNvSpPr>
          <p:nvPr/>
        </p:nvSpPr>
        <p:spPr>
          <a:xfrm>
            <a:off x="4362450" y="2590800"/>
            <a:ext cx="2800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Freeze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6E64D8-E332-43BC-8210-66314637FEF0}"/>
              </a:ext>
            </a:extLst>
          </p:cNvPr>
          <p:cNvSpPr>
            <a:spLocks noGrp="1"/>
          </p:cNvSpPr>
          <p:nvPr/>
        </p:nvSpPr>
        <p:spPr>
          <a:xfrm>
            <a:off x="4362450" y="2990850"/>
            <a:ext cx="2800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Take approved source snapshot; run validations; lock mapping changes except emergency defects.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B7B328-8116-498D-AD99-860E1D2C930E}"/>
              </a:ext>
            </a:extLst>
          </p:cNvPr>
          <p:cNvSpPr>
            <a:spLocks noGrp="1"/>
          </p:cNvSpPr>
          <p:nvPr/>
        </p:nvSpPr>
        <p:spPr>
          <a:xfrm>
            <a:off x="7536180" y="1714500"/>
            <a:ext cx="3215640" cy="61912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BEE42E-A269-46BD-8EB8-628EDC665591}"/>
              </a:ext>
            </a:extLst>
          </p:cNvPr>
          <p:cNvSpPr>
            <a:spLocks noGrp="1"/>
          </p:cNvSpPr>
          <p:nvPr/>
        </p:nvSpPr>
        <p:spPr>
          <a:xfrm>
            <a:off x="7745730" y="1943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946006-AC5A-4139-A626-5C6CF9E390B2}"/>
              </a:ext>
            </a:extLst>
          </p:cNvPr>
          <p:cNvSpPr>
            <a:spLocks noGrp="1"/>
          </p:cNvSpPr>
          <p:nvPr/>
        </p:nvSpPr>
        <p:spPr>
          <a:xfrm>
            <a:off x="7753350" y="1943100"/>
            <a:ext cx="495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B47911-49E3-41F8-9100-38B108F34C40}"/>
              </a:ext>
            </a:extLst>
          </p:cNvPr>
          <p:cNvSpPr>
            <a:spLocks noGrp="1"/>
          </p:cNvSpPr>
          <p:nvPr/>
        </p:nvSpPr>
        <p:spPr>
          <a:xfrm>
            <a:off x="7753350" y="2590800"/>
            <a:ext cx="2800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Load staging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DB202D-4FEC-4080-B6C9-6BE90EAE97B0}"/>
              </a:ext>
            </a:extLst>
          </p:cNvPr>
          <p:cNvSpPr>
            <a:spLocks noGrp="1"/>
          </p:cNvSpPr>
          <p:nvPr/>
        </p:nvSpPr>
        <p:spPr>
          <a:xfrm>
            <a:off x="7753350" y="2990850"/>
            <a:ext cx="28003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Run export into HANA staging using the approved provider and batch settings.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19127C0-C528-43C1-B658-ECADA7C52FBF}"/>
              </a:ext>
            </a:extLst>
          </p:cNvPr>
          <p:cNvSpPr>
            <a:spLocks noGrp="1"/>
          </p:cNvSpPr>
          <p:nvPr/>
        </p:nvSpPr>
        <p:spPr>
          <a:xfrm>
            <a:off x="10923270" y="1714500"/>
            <a:ext cx="3215640" cy="61912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C26BD9-E2F8-451A-BE41-146E8451F334}"/>
              </a:ext>
            </a:extLst>
          </p:cNvPr>
          <p:cNvSpPr>
            <a:spLocks noGrp="1"/>
          </p:cNvSpPr>
          <p:nvPr/>
        </p:nvSpPr>
        <p:spPr>
          <a:xfrm>
            <a:off x="11132820" y="1943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A6ED1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9829CF-BC31-48E2-A57C-7A8BD36ED40C}"/>
              </a:ext>
            </a:extLst>
          </p:cNvPr>
          <p:cNvSpPr>
            <a:spLocks noGrp="1"/>
          </p:cNvSpPr>
          <p:nvPr/>
        </p:nvSpPr>
        <p:spPr>
          <a:xfrm>
            <a:off x="11125200" y="1943100"/>
            <a:ext cx="495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5637E5-22B8-4F7F-98D7-0EA7A9AB9198}"/>
              </a:ext>
            </a:extLst>
          </p:cNvPr>
          <p:cNvSpPr>
            <a:spLocks noGrp="1"/>
          </p:cNvSpPr>
          <p:nvPr/>
        </p:nvSpPr>
        <p:spPr>
          <a:xfrm>
            <a:off x="11125200" y="2590800"/>
            <a:ext cx="2800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Transfer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8ADE5B-2240-42CD-9CB9-2EB9ED2A15AC}"/>
              </a:ext>
            </a:extLst>
          </p:cNvPr>
          <p:cNvSpPr>
            <a:spLocks noGrp="1"/>
          </p:cNvSpPr>
          <p:nvPr/>
        </p:nvSpPr>
        <p:spPr>
          <a:xfrm>
            <a:off x="11125200" y="2990850"/>
            <a:ext cx="2800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Run Migration Cockpit Transfer Data, resolve rejects, and rerun agreed object slices.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CB45929-7986-45F0-8B08-F5DA304E5EE7}"/>
              </a:ext>
            </a:extLst>
          </p:cNvPr>
          <p:cNvSpPr>
            <a:spLocks noGrp="1"/>
          </p:cNvSpPr>
          <p:nvPr/>
        </p:nvSpPr>
        <p:spPr>
          <a:xfrm>
            <a:off x="14310360" y="1714500"/>
            <a:ext cx="3215640" cy="619125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627B678-93FB-4341-9EDD-8B18E62C34A7}"/>
              </a:ext>
            </a:extLst>
          </p:cNvPr>
          <p:cNvSpPr>
            <a:spLocks noGrp="1"/>
          </p:cNvSpPr>
          <p:nvPr/>
        </p:nvSpPr>
        <p:spPr>
          <a:xfrm>
            <a:off x="14519910" y="19431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79B9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B997C-F701-409B-8BB6-9B6E0D914885}"/>
              </a:ext>
            </a:extLst>
          </p:cNvPr>
          <p:cNvSpPr>
            <a:spLocks noGrp="1"/>
          </p:cNvSpPr>
          <p:nvPr/>
        </p:nvSpPr>
        <p:spPr>
          <a:xfrm>
            <a:off x="14516100" y="1943100"/>
            <a:ext cx="495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09308E-28D3-472B-9557-19463F6FC5B5}"/>
              </a:ext>
            </a:extLst>
          </p:cNvPr>
          <p:cNvSpPr>
            <a:spLocks noGrp="1"/>
          </p:cNvSpPr>
          <p:nvPr/>
        </p:nvSpPr>
        <p:spPr>
          <a:xfrm>
            <a:off x="14516100" y="2590800"/>
            <a:ext cx="28003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Reconcile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C7CDCD-3B99-4AC1-BD81-91C9FA6C113B}"/>
              </a:ext>
            </a:extLst>
          </p:cNvPr>
          <p:cNvSpPr>
            <a:spLocks noGrp="1"/>
          </p:cNvSpPr>
          <p:nvPr/>
        </p:nvSpPr>
        <p:spPr>
          <a:xfrm>
            <a:off x="14516100" y="2990850"/>
            <a:ext cx="2800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364454"/>
                </a:solidFill>
              </a:defRPr>
            </a:pPr>
            <a:r>
              <a:rPr sz="1350">
                <a:solidFill>
                  <a:srgbClr val="364454"/>
                </a:solidFill>
              </a:rPr>
              <a:t>Compare source, staging, SAP counts; retain postload reports and security logs.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5BFE3B-5F8A-47AE-9363-2A769125C983}"/>
              </a:ext>
            </a:extLst>
          </p:cNvPr>
          <p:cNvSpPr>
            <a:spLocks noGrp="1"/>
          </p:cNvSpPr>
          <p:nvPr/>
        </p:nvSpPr>
        <p:spPr>
          <a:xfrm>
            <a:off x="762000" y="8191500"/>
            <a:ext cx="16764000" cy="1238250"/>
          </a:xfrm>
          <a:prstGeom prst="roundRect">
            <a:avLst>
              <a:gd name="adj" fmla="val 6154"/>
            </a:avLst>
          </a:prstGeom>
          <a:solidFill>
            <a:srgbClr val="EAF7F7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330C50-5F14-4B06-BA94-AA441D844AC9}"/>
              </a:ext>
            </a:extLst>
          </p:cNvPr>
          <p:cNvSpPr>
            <a:spLocks noGrp="1"/>
          </p:cNvSpPr>
          <p:nvPr/>
        </p:nvSpPr>
        <p:spPr>
          <a:xfrm>
            <a:off x="1047750" y="8401050"/>
            <a:ext cx="16192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Cutover success criteria: every loaded object has an approved source snapshot, a HANA staging load record, a SAP transfer outcome, and a reconciliation result.</a:t>
            </a:r>
          </a:p>
        </p:txBody>
      </p:sp>
      <p:sp>
        <p:nvSpPr>
          <p:cNvPr id="32" name="source-rail">
            <a:extLst>
              <a:ext uri="{FF2B5EF4-FFF2-40B4-BE49-F238E27FC236}">
                <a16:creationId xmlns:a16="http://schemas.microsoft.com/office/drawing/2014/main" id="{CE9391A8-51B8-4303-9980-29C31BE5ADED}"/>
              </a:ext>
            </a:extLst>
          </p:cNvPr>
          <p:cNvSpPr>
            <a:spLocks noGrp="1"/>
          </p:cNvSpPr>
          <p:nvPr/>
        </p:nvSpPr>
        <p:spPr>
          <a:xfrm>
            <a:off x="762000" y="971550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191440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-panel">
            <a:extLst>
              <a:ext uri="{FF2B5EF4-FFF2-40B4-BE49-F238E27FC236}">
                <a16:creationId xmlns:a16="http://schemas.microsoft.com/office/drawing/2014/main" id="{33FC018D-110A-4601-99AF-886DEB5C3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F7FAF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2DEFC8A-34AB-4A0E-A9C4-5523FD39963C}"/>
              </a:ext>
            </a:extLst>
          </p:cNvPr>
          <p:cNvSpPr>
            <a:spLocks noGrp="1"/>
          </p:cNvSpPr>
          <p:nvPr/>
        </p:nvSpPr>
        <p:spPr>
          <a:xfrm>
            <a:off x="762000" y="476250"/>
            <a:ext cx="167640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17212B"/>
                </a:solidFill>
              </a:defRPr>
            </a:pPr>
            <a:r>
              <a:rPr sz="3300" b="1">
                <a:solidFill>
                  <a:srgbClr val="17212B"/>
                </a:solidFill>
              </a:rPr>
              <a:t>Decision checklist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B63FAF9E-BF40-49C9-9BF2-AB64EF999EC2}"/>
              </a:ext>
            </a:extLst>
          </p:cNvPr>
          <p:cNvSpPr>
            <a:spLocks noGrp="1"/>
          </p:cNvSpPr>
          <p:nvPr/>
        </p:nvSpPr>
        <p:spPr>
          <a:xfrm>
            <a:off x="762000" y="1028700"/>
            <a:ext cx="1619250" cy="47625"/>
          </a:xfrm>
          <a:prstGeom prst="rect">
            <a:avLst/>
          </a:prstGeom>
          <a:solidFill>
            <a:srgbClr val="0B7C86"/>
          </a:solidFill>
          <a:ln w="0">
            <a:solidFill>
              <a:srgbClr val="0B7C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4BBD2D9E-26B1-402D-A96F-8425663CEF32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74295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364454"/>
                </a:solidFill>
              </a:defRPr>
            </a:pPr>
            <a:r>
              <a:rPr sz="1725">
                <a:solidFill>
                  <a:srgbClr val="364454"/>
                </a:solidFill>
              </a:rPr>
              <a:t>Approve the HANA ODBC connection when these conditions are demonstrably true.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C4CF7F-739A-4CC6-8A52-6DDD172066F5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880EE-5220-4E1C-B1C4-75D1C065981D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72B5D-664E-4DCA-83B1-D6E386D93B2C}"/>
              </a:ext>
            </a:extLst>
          </p:cNvPr>
          <p:cNvSpPr>
            <a:spLocks noGrp="1"/>
          </p:cNvSpPr>
          <p:nvPr/>
        </p:nvSpPr>
        <p:spPr>
          <a:xfrm>
            <a:off x="1409700" y="1943100"/>
            <a:ext cx="7086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The load mechanism is explicit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298FFC-EE3B-4F41-B76D-8BA763A6A21B}"/>
              </a:ext>
            </a:extLst>
          </p:cNvPr>
          <p:cNvSpPr>
            <a:spLocks noGrp="1"/>
          </p:cNvSpPr>
          <p:nvPr/>
        </p:nvSpPr>
        <p:spPr>
          <a:xfrm>
            <a:off x="1409700" y="2247900"/>
            <a:ext cx="65151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Migration Cockpit staging database/table load, not direct application-table manipulation.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D53D2F-B8BC-4155-8268-FD9061844391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DDC53-5C5A-4072-9F5C-F063B17CFBDB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DB8C93-053C-4A05-9747-8C6CFFBB9CCF}"/>
              </a:ext>
            </a:extLst>
          </p:cNvPr>
          <p:cNvSpPr>
            <a:spLocks noGrp="1"/>
          </p:cNvSpPr>
          <p:nvPr/>
        </p:nvSpPr>
        <p:spPr>
          <a:xfrm>
            <a:off x="1409700" y="2647950"/>
            <a:ext cx="7086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The provider choice is justified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1B999-EDD3-4F53-B1CA-B3589496D668}"/>
              </a:ext>
            </a:extLst>
          </p:cNvPr>
          <p:cNvSpPr>
            <a:spLocks noGrp="1"/>
          </p:cNvSpPr>
          <p:nvPr/>
        </p:nvSpPr>
        <p:spPr>
          <a:xfrm>
            <a:off x="1409700" y="2952750"/>
            <a:ext cx="60579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ODBC is required by the chosen component, bulk-insert mode, or enterprise driver standard.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69751B-D9FF-4453-8662-A855DBEE4F20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8B027C-3AAD-415F-B917-35451B14CF19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97B7CF-1E7D-4581-9A0A-8C93F2587D36}"/>
              </a:ext>
            </a:extLst>
          </p:cNvPr>
          <p:cNvSpPr>
            <a:spLocks noGrp="1"/>
          </p:cNvSpPr>
          <p:nvPr/>
        </p:nvSpPr>
        <p:spPr>
          <a:xfrm>
            <a:off x="1409700" y="3543300"/>
            <a:ext cx="7086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The account is constrained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73F3CE-343E-48DD-B134-AFB9228A5F99}"/>
              </a:ext>
            </a:extLst>
          </p:cNvPr>
          <p:cNvSpPr>
            <a:spLocks noGrp="1"/>
          </p:cNvSpPr>
          <p:nvPr/>
        </p:nvSpPr>
        <p:spPr>
          <a:xfrm>
            <a:off x="1409700" y="3848100"/>
            <a:ext cx="62103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Schema-scoped technical user with only the operations required for staging load and cleanup.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E476B4F-1EFD-40B5-A170-9198CDBA8BEC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0B7C8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37CA04-9D37-4692-A5FB-24B0648CF07D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476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3EFB47-4BE6-421E-8467-8F7560D1F844}"/>
              </a:ext>
            </a:extLst>
          </p:cNvPr>
          <p:cNvSpPr>
            <a:spLocks noGrp="1"/>
          </p:cNvSpPr>
          <p:nvPr/>
        </p:nvSpPr>
        <p:spPr>
          <a:xfrm>
            <a:off x="1409700" y="4438650"/>
            <a:ext cx="7086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The path is encrypted and private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7EFBC4-5D4D-4271-B9A7-97E383788691}"/>
              </a:ext>
            </a:extLst>
          </p:cNvPr>
          <p:cNvSpPr>
            <a:spLocks noGrp="1"/>
          </p:cNvSpPr>
          <p:nvPr/>
        </p:nvSpPr>
        <p:spPr>
          <a:xfrm>
            <a:off x="1409700" y="4743450"/>
            <a:ext cx="5791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364454"/>
                </a:solidFill>
              </a:defRPr>
            </a:pPr>
            <a:r>
              <a:rPr sz="1425">
                <a:solidFill>
                  <a:srgbClr val="364454"/>
                </a:solidFill>
              </a:rPr>
              <a:t>TLS certificates are trusted and network access is restricted to the load servers.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021B27-22C1-4F56-A4A2-A88A7F40851C}"/>
              </a:ext>
            </a:extLst>
          </p:cNvPr>
          <p:cNvSpPr>
            <a:spLocks noGrp="1"/>
          </p:cNvSpPr>
          <p:nvPr/>
        </p:nvSpPr>
        <p:spPr>
          <a:xfrm>
            <a:off x="8984933" y="1933575"/>
            <a:ext cx="8541068" cy="6572250"/>
          </a:xfrm>
          <a:prstGeom prst="roundRect">
            <a:avLst>
              <a:gd name="adj" fmla="val 1159"/>
            </a:avLst>
          </a:prstGeom>
          <a:solidFill>
            <a:srgbClr val="102A43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FCDA83-BBC3-4F0F-B691-C0DDAC2BE5A3}"/>
              </a:ext>
            </a:extLst>
          </p:cNvPr>
          <p:cNvSpPr>
            <a:spLocks noGrp="1"/>
          </p:cNvSpPr>
          <p:nvPr/>
        </p:nvSpPr>
        <p:spPr>
          <a:xfrm>
            <a:off x="9353550" y="2286000"/>
            <a:ext cx="78105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Bottom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36ADB-D27B-4AD9-B3FA-C0155690DCDF}"/>
              </a:ext>
            </a:extLst>
          </p:cNvPr>
          <p:cNvSpPr>
            <a:spLocks noGrp="1"/>
          </p:cNvSpPr>
          <p:nvPr/>
        </p:nvSpPr>
        <p:spPr>
          <a:xfrm>
            <a:off x="9353550" y="2857500"/>
            <a:ext cx="78105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D8E8F2"/>
                </a:solidFill>
              </a:defRPr>
            </a:pPr>
            <a:r>
              <a:rPr sz="2250">
                <a:solidFill>
                  <a:srgbClr val="D8E8F2"/>
                </a:solidFill>
              </a:rPr>
              <a:t>A SAP HANA ODBC connection is defensible because it is a high-volume staging interface into the SAP migration process. It is not defensible if it becomes a broad, reusable database account outside the migration runbook.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D1A9C4-43D5-4ACE-BC20-BA0DB2D76CC3}"/>
              </a:ext>
            </a:extLst>
          </p:cNvPr>
          <p:cNvSpPr>
            <a:spLocks noGrp="1"/>
          </p:cNvSpPr>
          <p:nvPr/>
        </p:nvSpPr>
        <p:spPr>
          <a:xfrm>
            <a:off x="9353550" y="4210050"/>
            <a:ext cx="7810500" cy="19050"/>
          </a:xfrm>
          <a:prstGeom prst="rect">
            <a:avLst/>
          </a:prstGeom>
          <a:solidFill>
            <a:srgbClr val="496B84"/>
          </a:solidFill>
          <a:ln w="0">
            <a:solidFill>
              <a:srgbClr val="496B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F4AB73-D0CB-4341-9692-8B85E25F80CD}"/>
              </a:ext>
            </a:extLst>
          </p:cNvPr>
          <p:cNvSpPr>
            <a:spLocks noGrp="1"/>
          </p:cNvSpPr>
          <p:nvPr/>
        </p:nvSpPr>
        <p:spPr>
          <a:xfrm>
            <a:off x="9353550" y="4438650"/>
            <a:ext cx="781050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BDE8E9"/>
                </a:solidFill>
              </a:defRPr>
            </a:pPr>
            <a:r>
              <a:rPr sz="2025" b="1">
                <a:solidFill>
                  <a:srgbClr val="BDE8E9"/>
                </a:solidFill>
              </a:rPr>
              <a:t>Control objective: least-privilege, encrypted, observable, temporary where possible, and owned jointly by Data Migration, SAP Basis, Security, and Infrastructure.</a:t>
            </a:r>
          </a:p>
        </p:txBody>
      </p:sp>
      <p:sp>
        <p:nvSpPr>
          <p:cNvPr id="26" name="source-rail">
            <a:extLst>
              <a:ext uri="{FF2B5EF4-FFF2-40B4-BE49-F238E27FC236}">
                <a16:creationId xmlns:a16="http://schemas.microsoft.com/office/drawing/2014/main" id="{A0FA0DAB-136E-409C-9322-532974C217DF}"/>
              </a:ext>
            </a:extLst>
          </p:cNvPr>
          <p:cNvSpPr>
            <a:spLocks noGrp="1"/>
          </p:cNvSpPr>
          <p:nvPr/>
        </p:nvSpPr>
        <p:spPr>
          <a:xfrm>
            <a:off x="762000" y="8801100"/>
            <a:ext cx="167640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7C8792"/>
                </a:solidFill>
              </a:defRPr>
            </a:pPr>
            <a:r>
              <a:rPr sz="825">
                <a:solidFill>
                  <a:srgbClr val="7C8792"/>
                </a:solidFill>
              </a:rPr>
              <a:t>Sources: Syniti Help docs: LTMC/SAP S/4HANA Migration Cockpit; SAP HANA; SAP HANA as Target; S/4HANA Cloud Public Edition; Client and Server Security Options.</a:t>
            </a:r>
          </a:p>
        </p:txBody>
      </p:sp>
    </p:spTree>
    <p:extLst>
      <p:ext uri="{BB962C8B-B14F-4D97-AF65-F5344CB8AC3E}">
        <p14:creationId xmlns:p14="http://schemas.microsoft.com/office/powerpoint/2010/main" val="4589772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1751</Words>
  <Application>Microsoft Office PowerPoint</Application>
  <DocSecurity>0</DocSecurity>
  <PresentationFormat>Custom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Asif Arif</cp:lastModifiedBy>
  <cp:revision>1</cp:revision>
  <dcterms:created xsi:type="dcterms:W3CDTF">2026-04-27T10:11:12Z</dcterms:created>
  <dcterms:modified xsi:type="dcterms:W3CDTF">2026-04-27T15:04:24Z</dcterms:modified>
</cp:coreProperties>
</file>